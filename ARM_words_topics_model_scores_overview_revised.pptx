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Support score</c:f>
              <c:strCache>
                <c:ptCount val="1"/>
                <c:pt idx="0">
                  <c:v>Support score</c:v>
                </c:pt>
              </c:strCache>
            </c:strRef>
          </c:tx>
          <c:spPr>
            <a:solidFill>
              <a:srgbClr val="087F7A"/>
            </a:solidFill>
          </c:spPr>
          <c:invertIfNegative val="0"/>
          <c:dLbls>
            <c:delete val="1"/>
          </c:dLbls>
          <c:cat>
            <c:strRef>
              <c:f>'Chart Data'!$A$2:$A$10</c:f>
              <c:strCache>
                <c:ptCount val="9"/>
                <c:pt idx="0">
                  <c:v>C0</c:v>
                </c:pt>
                <c:pt idx="1">
                  <c:v>C1</c:v>
                </c:pt>
                <c:pt idx="2">
                  <c:v>C2</c:v>
                </c:pt>
                <c:pt idx="3">
                  <c:v>C3</c:v>
                </c:pt>
                <c:pt idx="4">
                  <c:v>C4</c:v>
                </c:pt>
                <c:pt idx="5">
                  <c:v>C5</c:v>
                </c:pt>
                <c:pt idx="6">
                  <c:v>C6</c:v>
                </c:pt>
                <c:pt idx="7">
                  <c:v>C7</c:v>
                </c:pt>
                <c:pt idx="8">
                  <c:v>C8</c:v>
                </c:pt>
              </c:strCache>
            </c:strRef>
          </c:cat>
          <c:val>
            <c:numRef>
              <c:f>'Chart Data'!$B$2:$B$10</c:f>
              <c:numCache>
                <c:formatCode>General</c:formatCode>
                <c:ptCount val="9"/>
                <c:pt idx="0">
                  <c:v>16.1</c:v>
                </c:pt>
                <c:pt idx="1">
                  <c:v>3.8</c:v>
                </c:pt>
                <c:pt idx="2">
                  <c:v>12.2</c:v>
                </c:pt>
                <c:pt idx="3">
                  <c:v>2.5</c:v>
                </c:pt>
                <c:pt idx="4">
                  <c:v>1.9</c:v>
                </c:pt>
                <c:pt idx="5">
                  <c:v>18.8</c:v>
                </c:pt>
                <c:pt idx="6">
                  <c:v>10.4</c:v>
                </c:pt>
                <c:pt idx="7">
                  <c:v>7.5</c:v>
                </c:pt>
                <c:pt idx="8">
                  <c:v>7.9</c:v>
                </c:pt>
              </c:numCache>
            </c:numRef>
          </c:val>
        </c:ser>
        <c:ser>
          <c:idx val="1"/>
          <c:order val="1"/>
          <c:tx>
            <c:strRef>
              <c:f>Skepticism score</c:f>
              <c:strCache>
                <c:ptCount val="1"/>
                <c:pt idx="0">
                  <c:v>Skepticism score</c:v>
                </c:pt>
              </c:strCache>
            </c:strRef>
          </c:tx>
          <c:spPr>
            <a:solidFill>
              <a:schemeClr val="accent2"/>
            </a:solidFill>
          </c:spPr>
          <c:invertIfNegative val="0"/>
          <c:dLbls>
            <c:delete val="1"/>
          </c:dLbls>
          <c:cat>
            <c:strRef>
              <c:f>'Chart Data'!$C$2:$C$10</c:f>
              <c:strCache>
                <c:ptCount val="9"/>
                <c:pt idx="0">
                  <c:v>C0</c:v>
                </c:pt>
                <c:pt idx="1">
                  <c:v>C1</c:v>
                </c:pt>
                <c:pt idx="2">
                  <c:v>C2</c:v>
                </c:pt>
                <c:pt idx="3">
                  <c:v>C3</c:v>
                </c:pt>
                <c:pt idx="4">
                  <c:v>C4</c:v>
                </c:pt>
                <c:pt idx="5">
                  <c:v>C5</c:v>
                </c:pt>
                <c:pt idx="6">
                  <c:v>C6</c:v>
                </c:pt>
                <c:pt idx="7">
                  <c:v>C7</c:v>
                </c:pt>
                <c:pt idx="8">
                  <c:v>C8</c:v>
                </c:pt>
              </c:strCache>
            </c:strRef>
          </c:cat>
          <c:val>
            <c:numRef>
              <c:f>'Chart Data'!$D$2:$D$10</c:f>
              <c:numCache>
                <c:formatCode>General</c:formatCode>
                <c:ptCount val="9"/>
                <c:pt idx="0">
                  <c:v>13.4</c:v>
                </c:pt>
                <c:pt idx="1">
                  <c:v>1</c:v>
                </c:pt>
                <c:pt idx="2">
                  <c:v>25.9</c:v>
                </c:pt>
                <c:pt idx="3">
                  <c:v>1.3</c:v>
                </c:pt>
                <c:pt idx="4">
                  <c:v>15.5</c:v>
                </c:pt>
                <c:pt idx="5">
                  <c:v>6.2</c:v>
                </c:pt>
                <c:pt idx="6">
                  <c:v>1.9</c:v>
                </c:pt>
                <c:pt idx="7">
                  <c:v>3.7</c:v>
                </c:pt>
                <c:pt idx="8">
                  <c:v>12.7</c:v>
                </c:pt>
              </c:numCache>
            </c:numRef>
          </c:val>
        </c:ser>
        <c:dLbls>
          <c:showLegendKey val="0"/>
          <c:showVal val="0"/>
          <c:showCatName val="0"/>
          <c:showSerName val="0"/>
          <c:showPercent val="0"/>
          <c:showBubbleSize val="0"/>
        </c:dLbls>
        <c:gapWidth val="68"/>
        <c:axId val="48650112"/>
        <c:axId val="48672768"/>
      </c:barChart>
      <c:catAx>
        <c:axId val="48650112"/>
        <c:scaling>
          <c:orientation val="minMax"/>
        </c:scaling>
        <c:delete val="0"/>
        <c:axPos val="l"/>
        <c:majorGridlines>
          <c:spPr>
            <a:ln w="9525">
              <a:solidFill>
                <a:srgbClr val="C9D4D9"/>
              </a:solidFill>
              <a:prstDash val="solid"/>
              <a:round/>
            </a:ln>
          </c:spPr>
        </c:majorGridlines>
        <c:numFmt formatCode="0&quot;%&quot;"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125" b="0" i="0" u="none" strike="noStrike" kern="1200" baseline="0">
                <a:solidFill>
                  <a:srgbClr val="526879"/>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82F40"/>
                </a:solidFill>
                <a:latin typeface="+mn-lt"/>
                <a:ea typeface="+mn-ea"/>
                <a:cs typeface="+mn-cs"/>
              </a:defRPr>
            </a:pPr>
          </a:p>
        </c:txPr>
        <c:crossAx val="48650112"/>
        <c:crosses val="autoZero"/>
        <c:crossBetween val="between"/>
      </c:valAx>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5ac7f49c-4ee3-42e5-bedd-424904bdd4fe}"/>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(71 words):</a:t>
            </a:r>
          </a:p>
          <a:p>
            <a:r>
              <a:t>The team’s 09f workflow selected and clustered comments. I joined that exact sample with a newer two-score dataset using comment ID, so the word analysis and topic analysis refer to the same comments. One score estimates support for climate action and the other estimates climate skepticism. They are separate scores and do not have to add to one. Throughout this talk, “high” means a high model score, not a verified opinion.</a:t>
            </a:r>
          </a:p>
          <a:p/>
          <a:p>
            <a:r>
              <a:t>Sources: E:/Dataminingproject/Data/09f_interpretable_assignments_with_two_scores.parquet; E:/Dataminingproject/Find_pattern/word_association_rules.ipynb.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(85 words):</a:t>
            </a:r>
          </a:p>
          <a:p>
            <a:r>
              <a:t>To avoid using comments from the same post for both rule discovery and checking, I split the sample by post ID. The training set has 22,501 comments and the held-out set has 5,729. I called a score high if it was in the training set’s top ten percent for that dimension. This produces different numerical thresholds because the two score distributions differ. Association rules were discovered in training and checked on held-out posts; the cluster comparison applies those fixed thresholds to the full 28,230-comment sample.</a:t>
            </a:r>
          </a:p>
          <a:p/>
          <a:p>
            <a:r>
              <a:t>Sources: E:/Dataminingproject/Find_pattern/word_association_rules.ipynb; E:/Dataminingproject/Find_pattern/cluster_stance_relationship_09f.ipynb.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(96 words):</a:t>
            </a:r>
          </a:p>
          <a:p>
            <a:r>
              <a:t>I represented each comment by whether selected words or two-word phrases appeared. FP-Growth found word-and-score combinations in training; eighteen rules met the final filters. Here are four examples checked on posts the discovery step had not seen. “Reduce” appeared in 205 held-out comments; 53, or 25.9 percent, received a top support score. The held-out baseline was about ten percent, so the lift is 2.59. This is a reproducible association with the model score. It is not a rule that every comment using “reduce” supports action: about three quarters of them did not receive that top score.</a:t>
            </a:r>
          </a:p>
          <a:p/>
          <a:p>
            <a:r>
              <a:t>Sources: E:/Dataminingproject/ARM_results/after_09f/word_score_rules_two_scores.csv; E:/Dataminingproject/Find_pattern/word_association_rules.ipynb.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(80 words):</a:t>
            </a:r>
          </a:p>
          <a:p>
            <a:r>
              <a:t>To interpret the rules, I drew forty held-out comments: ten high-score and ten below-threshold comments for each of two terms, “reduce” and “global warming.” One high-skepticism comment explicitly criticizes global-warming deniers. Another comment defends public spending to reduce oil dependence but receives a very low support score. These show why a word–score association cannot be read as the author’s opinion. The forty-row file has no completed human labels, so I use it for concrete counterexamples rather than an accuracy percentage.</a:t>
            </a:r>
          </a:p>
          <a:p/>
          <a:p>
            <a:r>
              <a:t>Sources: E:/Dataminingproject/ARM_results/after_09f/manual_review_two_scores.csv; comment IDs kfmxyf3 and lpehn3m.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(95 words):</a:t>
            </a:r>
          </a:p>
          <a:p>
            <a:r>
              <a:t>The topic comparison uses all 28,230 selected comments, with exactly the same high-score thresholds as the word analysis. Across the whole sample, ten percent have a top support score and 10.35 percent have a top skepticism score. C2, about climate belief and denial, has 25.9 percent high skepticism scores, or 2.5 times the overall share. C4, about observations and weather, has 15.5 percent. C5, about responsibility and mitigation, has the largest support high-score share, 18.8 percent. These are differences in model output. They do not yet tell us the share of actual skeptics or supporters.</a:t>
            </a:r>
          </a:p>
          <a:p/>
          <a:p>
            <a:r>
              <a:t>Sources: E:/Dataminingproject/Find_pattern/cluster_stance_relationship_09f.ipynb; E:/Dataminingproject/Data/09f_interpretable_assignments_with_two_scores.parquet.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(119 words):</a:t>
            </a:r>
          </a:p>
          <a:p>
            <a:r>
              <a:t>I read sixty held-out comments: for each of C2 and C4 I checked skepticism, and for C5 I checked support. Each cluster contributes ten high-score and ten below-threshold comments from distinct posts. In the C2 high-skepticism group, four comments express skepticism, but three accept climate science and three are unclear. C2 therefore looks like a place where skepticism is discussed and disputed, not simply a cluster of skeptics. In C4, four high-score comments are skeptical, while four accept warming but question a particular measurement or forecast. In C5, seven high-support-score comments clearly advocate climate action. These labels are my AI-assisted first pass, not independently validated human labels; the sample was deliberately stratified and is too small for population estimates.</a:t>
            </a:r>
          </a:p>
          <a:p/>
          <a:p>
            <a:r>
              <a:t>Sources: E:/Dataminingproject/ARM_results/after_09f/topic_stance_60_AI_assisted_review.xlsx; E:/Dataminingproject/ARM_results/after_09f/topic_stance_60_original_comments.xlsx.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(90 words):</a:t>
            </a:r>
          </a:p>
          <a:p>
            <a:r>
              <a:t>The strongest conclusion is about model behavior: certain words and topics are associated with extreme outputs, and several word rules remain visible on held-out posts. The original comments expose the interpretation limit. The scores were generated from the same text that supplied our words and topic embeddings, so these associations are neither causal effects nor independent evidence of true political or scientific positions. If the team wants to compare real perspectives across communities, the next step is a clear labeling rubric and blind human review spread across topics and subreddits.</a:t>
            </a:r>
          </a:p>
          <a:p/>
          <a:p>
            <a:r>
              <a:t>Sources: E:/Dataminingproject/Find_pattern/word_association_rules.ipynb; E:/Dataminingproject/Find_pattern/cluster_stance_relationship_09f.ipynb; E:/Dataminingproject/ARM_results/after_09f/topic_stance_60_AI_assisted_review.xlsx.</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6.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One shared sample, two model scores</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02</a:t>
            </a:r>
            <a:endParaRPr sz="975" b="0">
              <a:solidFill>
                <a:srgbClr val="526879"/>
              </a:solidFill>
            </a:endParaRPr>
          </a:p>
        </p:txBody>
      </p:sp>
      <p:sp>
        <p:nvSpPr>
          <p:cNvPr id="4" name="矩形 3"/>
          <p:cNvSpPr>
            <a:spLocks noGrp="1"/>
          </p:cNvSpPr>
          <p:nvPr/>
        </p:nvSpPr>
        <p:spPr>
          <a:xfrm>
            <a:off x="704850" y="1419225"/>
            <a:ext cx="45720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Shared sample</a:t>
            </a:r>
            <a:endParaRPr sz="1425" b="1">
              <a:solidFill>
                <a:srgbClr val="087F7A"/>
              </a:solidFill>
            </a:endParaRPr>
          </a:p>
        </p:txBody>
      </p:sp>
      <p:sp>
        <p:nvSpPr>
          <p:cNvPr id="5" name="矩形 4"/>
          <p:cNvSpPr>
            <a:spLocks noGrp="1"/>
          </p:cNvSpPr>
          <p:nvPr/>
        </p:nvSpPr>
        <p:spPr>
          <a:xfrm>
            <a:off x="704850" y="1838325"/>
            <a:ext cx="4972050" cy="1524000"/>
          </a:xfrm>
          <a:prstGeom prst="rect">
            <a:avLst/>
          </a:prstGeom>
          <a:noFill/>
          <a:ln w="0">
            <a:noFill/>
            <a:prstDash val="solid"/>
          </a:ln>
        </p:spPr>
        <p:txBody>
          <a:bodyPr anchor="ctr"/>
          <a:lstStyle>
            <a:defPPr>
              <a:defRPr sz="2025" b="0">
                <a:solidFill>
                  <a:srgbClr val="182F40"/>
                </a:solidFill>
              </a:defRPr>
            </a:defPPr>
          </a:lstStyle>
          <a:p>
            <a:pPr>
              <a:defRPr sz="2025" b="0">
                <a:solidFill>
                  <a:srgbClr val="182F40"/>
                </a:solidFill>
              </a:defRPr>
            </a:pPr>
            <a:r>
              <a:rPr sz="2025" b="0">
                <a:solidFill>
                  <a:srgbClr val="182F40"/>
                </a:solidFill>
              </a:rPr>
              <a:t>28,230 selected comments</a:t>
            </a:r>
            <a:endParaRPr sz="2025" b="0">
              <a:solidFill>
                <a:srgbClr val="182F40"/>
              </a:solidFill>
            </a:endParaRPr>
          </a:p>
          <a:p>
            <a:pPr>
              <a:defRPr sz="2025" b="0">
                <a:solidFill>
                  <a:srgbClr val="182F40"/>
                </a:solidFill>
              </a:defRPr>
            </a:pPr>
            <a:r>
              <a:rPr sz="2025" b="0">
                <a:solidFill>
                  <a:srgbClr val="182F40"/>
                </a:solidFill>
              </a:rPr>
              <a:t>The same comments and topic assignments used in the team’s clustering analysis.</a:t>
            </a:r>
            <a:endParaRPr sz="2025" b="0">
              <a:solidFill>
                <a:srgbClr val="182F40"/>
              </a:solidFill>
            </a:endParaRPr>
          </a:p>
        </p:txBody>
      </p:sp>
      <p:sp>
        <p:nvSpPr>
          <p:cNvPr id="6" name="矩形 5"/>
          <p:cNvSpPr>
            <a:spLocks noGrp="1"/>
          </p:cNvSpPr>
          <p:nvPr/>
        </p:nvSpPr>
        <p:spPr>
          <a:xfrm>
            <a:off x="6191250" y="1419225"/>
            <a:ext cx="49530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Scores added by comment_id</a:t>
            </a:r>
            <a:endParaRPr sz="1425" b="1">
              <a:solidFill>
                <a:srgbClr val="087F7A"/>
              </a:solidFill>
            </a:endParaRPr>
          </a:p>
        </p:txBody>
      </p:sp>
      <p:sp>
        <p:nvSpPr>
          <p:cNvPr id="7" name="矩形 6"/>
          <p:cNvSpPr>
            <a:spLocks noGrp="1"/>
          </p:cNvSpPr>
          <p:nvPr/>
        </p:nvSpPr>
        <p:spPr>
          <a:xfrm>
            <a:off x="6191250" y="1838325"/>
            <a:ext cx="5162550" cy="1524000"/>
          </a:xfrm>
          <a:prstGeom prst="rect">
            <a:avLst/>
          </a:prstGeom>
          <a:noFill/>
          <a:ln w="0">
            <a:noFill/>
            <a:prstDash val="solid"/>
          </a:ln>
        </p:spPr>
        <p:txBody>
          <a:bodyPr anchor="ctr"/>
          <a:lstStyle>
            <a:defPPr>
              <a:defRPr sz="1875" b="0">
                <a:solidFill>
                  <a:srgbClr val="182F40"/>
                </a:solidFill>
              </a:defRPr>
            </a:defPPr>
          </a:lstStyle>
          <a:p>
            <a:pPr>
              <a:defRPr sz="1875" b="0">
                <a:solidFill>
                  <a:srgbClr val="182F40"/>
                </a:solidFill>
              </a:defRPr>
            </a:pPr>
            <a:r>
              <a:rPr sz="1875" b="0">
                <a:solidFill>
                  <a:srgbClr val="182F40"/>
                </a:solidFill>
              </a:rPr>
              <a:t>p_support: support for climate action</a:t>
            </a:r>
            <a:endParaRPr sz="1875" b="0">
              <a:solidFill>
                <a:srgbClr val="182F40"/>
              </a:solidFill>
            </a:endParaRPr>
          </a:p>
          <a:p>
            <a:endParaRPr sz="1875"/>
          </a:p>
          <a:p>
            <a:pPr>
              <a:defRPr sz="1875" b="0">
                <a:solidFill>
                  <a:srgbClr val="182F40"/>
                </a:solidFill>
              </a:defRPr>
            </a:pPr>
            <a:r>
              <a:rPr sz="1875" b="0">
                <a:solidFill>
                  <a:srgbClr val="182F40"/>
                </a:solidFill>
              </a:rPr>
              <a:t>p_skeptic: climate skepticism</a:t>
            </a:r>
            <a:endParaRPr sz="1875" b="0">
              <a:solidFill>
                <a:srgbClr val="182F40"/>
              </a:solidFill>
            </a:endParaRPr>
          </a:p>
        </p:txBody>
      </p:sp>
      <p:sp>
        <p:nvSpPr>
          <p:cNvPr id="8" name="矩形 7"/>
          <p:cNvSpPr>
            <a:spLocks noGrp="1"/>
          </p:cNvSpPr>
          <p:nvPr/>
        </p:nvSpPr>
        <p:spPr>
          <a:xfrm>
            <a:off x="704850" y="4029075"/>
            <a:ext cx="10477500" cy="685800"/>
          </a:xfrm>
          <a:prstGeom prst="rect">
            <a:avLst/>
          </a:prstGeom>
          <a:noFill/>
          <a:ln w="0">
            <a:noFill/>
            <a:prstDash val="solid"/>
          </a:ln>
        </p:spPr>
        <p:txBody>
          <a:bodyPr anchor="ctr"/>
          <a:lstStyle>
            <a:defPPr>
              <a:defRPr sz="1950" b="1">
                <a:solidFill>
                  <a:srgbClr val="132B40"/>
                </a:solidFill>
              </a:defRPr>
            </a:defPPr>
          </a:lstStyle>
          <a:p>
            <a:pPr>
              <a:defRPr sz="1950" b="1">
                <a:solidFill>
                  <a:srgbClr val="132B40"/>
                </a:solidFill>
              </a:defRPr>
            </a:pPr>
            <a:r>
              <a:rPr sz="1950" b="1">
                <a:solidFill>
                  <a:srgbClr val="132B40"/>
                </a:solidFill>
              </a:rPr>
              <a:t>These are separate model outputs. Neither score is a human-verified stance label.</a:t>
            </a:r>
            <a:endParaRPr sz="1950" b="1">
              <a:solidFill>
                <a:srgbClr val="132B4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How the two analyses were defined</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03</a:t>
            </a:r>
            <a:endParaRPr sz="975" b="0">
              <a:solidFill>
                <a:srgbClr val="526879"/>
              </a:solidFill>
            </a:endParaRPr>
          </a:p>
        </p:txBody>
      </p:sp>
      <p:sp>
        <p:nvSpPr>
          <p:cNvPr id="4" name="矩形 3"/>
          <p:cNvSpPr>
            <a:spLocks noGrp="1"/>
          </p:cNvSpPr>
          <p:nvPr/>
        </p:nvSpPr>
        <p:spPr>
          <a:xfrm>
            <a:off x="704850" y="1304925"/>
            <a:ext cx="102870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1 · Separate discovery from checking</a:t>
            </a:r>
            <a:endParaRPr sz="1425" b="1">
              <a:solidFill>
                <a:srgbClr val="087F7A"/>
              </a:solidFill>
            </a:endParaRPr>
          </a:p>
        </p:txBody>
      </p:sp>
      <p:sp>
        <p:nvSpPr>
          <p:cNvPr id="5" name="矩形 4"/>
          <p:cNvSpPr>
            <a:spLocks noGrp="1"/>
          </p:cNvSpPr>
          <p:nvPr/>
        </p:nvSpPr>
        <p:spPr>
          <a:xfrm>
            <a:off x="704850" y="1724025"/>
            <a:ext cx="10477500" cy="762000"/>
          </a:xfrm>
          <a:prstGeom prst="rect">
            <a:avLst/>
          </a:prstGeom>
          <a:noFill/>
          <a:ln w="0">
            <a:noFill/>
            <a:prstDash val="solid"/>
          </a:ln>
        </p:spPr>
        <p:txBody>
          <a:bodyPr anchor="ctr"/>
          <a:lstStyle>
            <a:defPPr>
              <a:defRPr sz="1875" b="0">
                <a:solidFill>
                  <a:srgbClr val="182F40"/>
                </a:solidFill>
              </a:defRPr>
            </a:defPPr>
          </a:lstStyle>
          <a:p>
            <a:pPr>
              <a:defRPr sz="1875" b="0">
                <a:solidFill>
                  <a:srgbClr val="182F40"/>
                </a:solidFill>
              </a:defRPr>
            </a:pPr>
            <a:r>
              <a:rPr sz="1875" b="0">
                <a:solidFill>
                  <a:srgbClr val="182F40"/>
                </a:solidFill>
              </a:rPr>
              <a:t>Split by post: 22,501 training comments; 5,729 comments from held-out posts.</a:t>
            </a:r>
            <a:endParaRPr sz="1875" b="0">
              <a:solidFill>
                <a:srgbClr val="182F40"/>
              </a:solidFill>
            </a:endParaRPr>
          </a:p>
        </p:txBody>
      </p:sp>
      <p:sp>
        <p:nvSpPr>
          <p:cNvPr id="6" name="矩形 5"/>
          <p:cNvSpPr>
            <a:spLocks noGrp="1"/>
          </p:cNvSpPr>
          <p:nvPr>
            <p:custDataLst>
              <p:tags r:id="rId1"/>
            </p:custDataLst>
          </p:nvPr>
        </p:nvSpPr>
        <p:spPr>
          <a:xfrm>
            <a:off x="704850" y="2781300"/>
            <a:ext cx="102870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2 · Define “high” within each model score</a:t>
            </a:r>
            <a:endParaRPr sz="1425" b="1">
              <a:solidFill>
                <a:srgbClr val="087F7A"/>
              </a:solidFill>
            </a:endParaRPr>
          </a:p>
        </p:txBody>
      </p:sp>
      <p:sp>
        <p:nvSpPr>
          <p:cNvPr id="7" name="矩形 6"/>
          <p:cNvSpPr>
            <a:spLocks noGrp="1"/>
          </p:cNvSpPr>
          <p:nvPr>
            <p:custDataLst>
              <p:tags r:id="rId2"/>
            </p:custDataLst>
          </p:nvPr>
        </p:nvSpPr>
        <p:spPr>
          <a:xfrm>
            <a:off x="704850" y="3209925"/>
            <a:ext cx="10477500" cy="857250"/>
          </a:xfrm>
          <a:prstGeom prst="rect">
            <a:avLst/>
          </a:prstGeom>
          <a:noFill/>
          <a:ln w="0">
            <a:noFill/>
            <a:prstDash val="solid"/>
          </a:ln>
        </p:spPr>
        <p:txBody>
          <a:bodyPr anchor="ctr"/>
          <a:lstStyle>
            <a:defPPr>
              <a:defRPr sz="1800" b="0">
                <a:solidFill>
                  <a:srgbClr val="182F40"/>
                </a:solidFill>
              </a:defRPr>
            </a:defPPr>
          </a:lstStyle>
          <a:p>
            <a:pPr>
              <a:defRPr sz="1800" b="0">
                <a:solidFill>
                  <a:srgbClr val="182F40"/>
                </a:solidFill>
              </a:defRPr>
            </a:pPr>
            <a:r>
              <a:rPr sz="1800" b="0">
                <a:solidFill>
                  <a:srgbClr val="182F40"/>
                </a:solidFill>
              </a:rPr>
              <a:t>Training top 10%: p_support ≥ 0.9864; p_skeptic ≥ 0.8070.</a:t>
            </a:r>
            <a:endParaRPr sz="1800" b="0">
              <a:solidFill>
                <a:srgbClr val="182F40"/>
              </a:solidFill>
            </a:endParaRPr>
          </a:p>
          <a:p>
            <a:pPr>
              <a:defRPr sz="1800" b="0">
                <a:solidFill>
                  <a:srgbClr val="182F40"/>
                </a:solidFill>
              </a:defRPr>
            </a:pPr>
            <a:r>
              <a:rPr sz="1800" b="0">
                <a:solidFill>
                  <a:srgbClr val="182F40"/>
                </a:solidFill>
              </a:rPr>
              <a:t>Apply the same cutoffs to all clusters and to held-out posts.</a:t>
            </a:r>
            <a:endParaRPr sz="1800" b="0">
              <a:solidFill>
                <a:srgbClr val="182F40"/>
              </a:solidFill>
            </a:endParaRPr>
          </a:p>
        </p:txBody>
      </p:sp>
      <p:sp>
        <p:nvSpPr>
          <p:cNvPr id="8" name="矩形 7"/>
          <p:cNvSpPr>
            <a:spLocks noGrp="1"/>
          </p:cNvSpPr>
          <p:nvPr>
            <p:custDataLst>
              <p:tags r:id="rId3"/>
            </p:custDataLst>
          </p:nvPr>
        </p:nvSpPr>
        <p:spPr>
          <a:xfrm>
            <a:off x="704850" y="4467225"/>
            <a:ext cx="102870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3 · Ask two different questions</a:t>
            </a:r>
            <a:endParaRPr sz="1425" b="1">
              <a:solidFill>
                <a:srgbClr val="087F7A"/>
              </a:solidFill>
            </a:endParaRPr>
          </a:p>
        </p:txBody>
      </p:sp>
      <p:sp>
        <p:nvSpPr>
          <p:cNvPr id="9" name="矩形 8"/>
          <p:cNvSpPr>
            <a:spLocks noGrp="1"/>
          </p:cNvSpPr>
          <p:nvPr>
            <p:custDataLst>
              <p:tags r:id="rId4"/>
            </p:custDataLst>
          </p:nvPr>
        </p:nvSpPr>
        <p:spPr>
          <a:xfrm>
            <a:off x="704850" y="4857750"/>
            <a:ext cx="10668000" cy="1047750"/>
          </a:xfrm>
          <a:prstGeom prst="rect">
            <a:avLst/>
          </a:prstGeom>
          <a:noFill/>
          <a:ln w="0">
            <a:noFill/>
            <a:prstDash val="solid"/>
          </a:ln>
        </p:spPr>
        <p:txBody>
          <a:bodyPr anchor="ctr"/>
          <a:lstStyle>
            <a:defPPr>
              <a:defRPr sz="1800" b="0">
                <a:solidFill>
                  <a:srgbClr val="182F40"/>
                </a:solidFill>
              </a:defRPr>
            </a:defPPr>
          </a:lstStyle>
          <a:p>
            <a:pPr>
              <a:defRPr sz="1800" b="0">
                <a:solidFill>
                  <a:srgbClr val="182F40"/>
                </a:solidFill>
              </a:defRPr>
            </a:pPr>
            <a:r>
              <a:rPr sz="1800" b="0">
                <a:solidFill>
                  <a:srgbClr val="182F40"/>
                </a:solidFill>
              </a:rPr>
              <a:t>ARM: does a word or phrase co-occur with a </a:t>
            </a:r>
            <a:r>
              <a:rPr lang="en-US" sz="1800" b="0">
                <a:solidFill>
                  <a:srgbClr val="182F40"/>
                </a:solidFill>
              </a:rPr>
              <a:t>high model </a:t>
            </a:r>
            <a:r>
              <a:rPr sz="1800" b="0">
                <a:solidFill>
                  <a:srgbClr val="182F40"/>
                </a:solidFill>
              </a:rPr>
              <a:t>score?</a:t>
            </a:r>
            <a:endParaRPr sz="1800" b="0">
              <a:solidFill>
                <a:srgbClr val="182F40"/>
              </a:solidFill>
            </a:endParaRPr>
          </a:p>
          <a:p>
            <a:pPr>
              <a:defRPr sz="1800" b="0">
                <a:solidFill>
                  <a:srgbClr val="182F40"/>
                </a:solidFill>
              </a:defRPr>
            </a:pPr>
            <a:r>
              <a:rPr sz="1800" b="0">
                <a:solidFill>
                  <a:srgbClr val="182F40"/>
                </a:solidFill>
              </a:rPr>
              <a:t>Cluster comparison: does that top-score share vary by </a:t>
            </a:r>
            <a:r>
              <a:rPr lang="en-US" sz="1800" b="0">
                <a:solidFill>
                  <a:srgbClr val="182F40"/>
                </a:solidFill>
              </a:rPr>
              <a:t>different clusters</a:t>
            </a:r>
            <a:r>
              <a:rPr sz="1800" b="0">
                <a:solidFill>
                  <a:srgbClr val="182F40"/>
                </a:solidFill>
              </a:rPr>
              <a:t>?</a:t>
            </a:r>
            <a:endParaRPr sz="1800" b="0">
              <a:solidFill>
                <a:srgbClr val="182F4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Four word–score rules held up on </a:t>
            </a:r>
            <a:r>
              <a:rPr lang="en-US" altLang="zh-CN" sz="2775" b="1">
                <a:solidFill>
                  <a:srgbClr val="132B40"/>
                </a:solidFill>
              </a:rPr>
              <a:t>held-out </a:t>
            </a:r>
            <a:r>
              <a:rPr sz="2775" b="1">
                <a:solidFill>
                  <a:srgbClr val="132B40"/>
                </a:solidFill>
              </a:rPr>
              <a:t>posts</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04</a:t>
            </a:r>
            <a:endParaRPr sz="975" b="0">
              <a:solidFill>
                <a:srgbClr val="526879"/>
              </a:solidFill>
            </a:endParaRPr>
          </a:p>
        </p:txBody>
      </p:sp>
      <p:sp>
        <p:nvSpPr>
          <p:cNvPr id="4" name="矩形 3"/>
          <p:cNvSpPr>
            <a:spLocks noGrp="1"/>
          </p:cNvSpPr>
          <p:nvPr/>
        </p:nvSpPr>
        <p:spPr>
          <a:xfrm>
            <a:off x="704850" y="1181100"/>
            <a:ext cx="10477500" cy="447675"/>
          </a:xfrm>
          <a:prstGeom prst="rect">
            <a:avLst/>
          </a:prstGeom>
          <a:noFill/>
          <a:ln w="0">
            <a:noFill/>
            <a:prstDash val="solid"/>
          </a:ln>
        </p:spPr>
        <p:txBody>
          <a:bodyPr anchor="ctr"/>
          <a:lstStyle>
            <a:defPPr>
              <a:defRPr sz="1650" b="0">
                <a:solidFill>
                  <a:srgbClr val="526879"/>
                </a:solidFill>
              </a:defRPr>
            </a:defPPr>
          </a:lstStyle>
          <a:p>
            <a:pPr>
              <a:defRPr sz="1650" b="0">
                <a:solidFill>
                  <a:srgbClr val="526879"/>
                </a:solidFill>
              </a:defRPr>
            </a:pPr>
            <a:r>
              <a:rPr sz="1650" b="0">
                <a:solidFill>
                  <a:srgbClr val="526879"/>
                </a:solidFill>
              </a:rPr>
              <a:t>Held-out baseline: 10.0% top support score; 11.7% top skepticism score.</a:t>
            </a:r>
            <a:endParaRPr sz="1650" b="0">
              <a:solidFill>
                <a:srgbClr val="526879"/>
              </a:solidFill>
            </a:endParaRPr>
          </a:p>
        </p:txBody>
      </p:sp>
      <p:graphicFrame>
        <p:nvGraphicFramePr>
          <p:cNvPr id="5" name="表格 4"/>
          <p:cNvGraphicFramePr/>
          <p:nvPr/>
        </p:nvGraphicFramePr>
        <p:xfrm>
          <a:off x="704850" y="1885950"/>
          <a:ext cx="10763250" cy="3295650"/>
        </p:xfrm>
        <a:graphic>
          <a:graphicData uri="http://schemas.openxmlformats.org/drawingml/2006/table">
            <a:tbl>
              <a:tblPr firstRow="1" bandRow="1"/>
              <a:tblGrid>
                <a:gridCol w="2838450"/>
                <a:gridCol w="2457450"/>
                <a:gridCol w="1847850"/>
                <a:gridCol w="1762125"/>
                <a:gridCol w="1857375"/>
              </a:tblGrid>
              <a:tr h="659130">
                <a:tc>
                  <a:txBody>
                    <a:bodyPr/>
                    <a:lstStyle/>
                    <a:p>
                      <a:r>
                        <a:rPr sz="1350" b="1">
                          <a:solidFill>
                            <a:srgbClr val="087F7A"/>
                          </a:solidFill>
                        </a:rPr>
                        <a:t>Term</a:t>
                      </a:r>
                      <a:endParaRPr sz="1350" b="1">
                        <a:solidFill>
                          <a:srgbClr val="087F7A"/>
                        </a:solidFill>
                      </a:endParaRPr>
                    </a:p>
                  </a:txBody>
                  <a:tcPr>
                    <a:lnL w="4763">
                      <a:solidFill>
                        <a:srgbClr val="C9D4D9"/>
                      </a:solidFill>
                      <a:prstDash val="solid"/>
                    </a:lnL>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350" b="1">
                          <a:solidFill>
                            <a:srgbClr val="087F7A"/>
                          </a:solidFill>
                        </a:rPr>
                        <a:t>Model score group</a:t>
                      </a:r>
                      <a:endParaRPr sz="1350"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350" b="1">
                          <a:solidFill>
                            <a:srgbClr val="087F7A"/>
                          </a:solidFill>
                        </a:rPr>
                        <a:t>Comments with term</a:t>
                      </a:r>
                      <a:endParaRPr sz="1350"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350" b="1">
                          <a:solidFill>
                            <a:srgbClr val="087F7A"/>
                          </a:solidFill>
                        </a:rPr>
                        <a:t>Top-score share</a:t>
                      </a:r>
                      <a:endParaRPr sz="1350"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350" b="1">
                          <a:solidFill>
                            <a:srgbClr val="087F7A"/>
                          </a:solidFill>
                        </a:rPr>
                        <a:t>Lift</a:t>
                      </a:r>
                      <a:endParaRPr sz="1350"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r>
              <a:tr h="659130">
                <a:tc>
                  <a:txBody>
                    <a:bodyPr/>
                    <a:lstStyle/>
                    <a:p>
                      <a:r>
                        <a:rPr sz="1425" b="1">
                          <a:solidFill>
                            <a:srgbClr val="182F40"/>
                          </a:solidFill>
                        </a:rPr>
                        <a:t>reduce</a:t>
                      </a:r>
                      <a:endParaRPr sz="1425"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support top 10%</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205</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25.9%</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2.59×</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r>
              <a:tr h="659130">
                <a:tc>
                  <a:txBody>
                    <a:bodyPr/>
                    <a:lstStyle/>
                    <a:p>
                      <a:r>
                        <a:rPr sz="1425" b="1">
                          <a:solidFill>
                            <a:srgbClr val="182F40"/>
                          </a:solidFill>
                        </a:rPr>
                        <a:t>renewables</a:t>
                      </a:r>
                      <a:endParaRPr sz="1425"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support top 10%</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254</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23.2%</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2.33×</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r>
              <a:tr h="659130">
                <a:tc>
                  <a:txBody>
                    <a:bodyPr/>
                    <a:lstStyle/>
                    <a:p>
                      <a:r>
                        <a:rPr sz="1425" b="1">
                          <a:solidFill>
                            <a:srgbClr val="182F40"/>
                          </a:solidFill>
                        </a:rPr>
                        <a:t>global warming</a:t>
                      </a:r>
                      <a:endParaRPr sz="1425"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skeptic top 10%</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265</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28.3%</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425" b="0">
                          <a:solidFill>
                            <a:srgbClr val="182F40"/>
                          </a:solidFill>
                        </a:rPr>
                        <a:t>2.41×</a:t>
                      </a:r>
                      <a:endParaRPr sz="1425" b="0">
                        <a:solidFill>
                          <a:srgbClr val="182F40"/>
                        </a:solidFill>
                      </a:endParaRPr>
                    </a:p>
                  </a:txBody>
                  <a:tcPr>
                    <a:lnR w="4763">
                      <a:solidFill>
                        <a:srgbClr val="C9D4D9"/>
                      </a:solidFill>
                      <a:prstDash val="solid"/>
                    </a:lnR>
                    <a:lnB w="4763">
                      <a:solidFill>
                        <a:srgbClr val="C9D4D9"/>
                      </a:solidFill>
                      <a:prstDash val="solid"/>
                    </a:lnB>
                    <a:solidFill>
                      <a:srgbClr val="FFFFFF"/>
                    </a:solidFill>
                  </a:tcPr>
                </a:tc>
              </a:tr>
              <a:tr h="659130">
                <a:tc>
                  <a:txBody>
                    <a:bodyPr/>
                    <a:lstStyle/>
                    <a:p>
                      <a:r>
                        <a:rPr sz="1425" b="1">
                          <a:solidFill>
                            <a:srgbClr val="182F40"/>
                          </a:solidFill>
                        </a:rPr>
                        <a:t>science</a:t>
                      </a:r>
                      <a:endParaRPr sz="1425"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skeptic top 10%</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244</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27.0%</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425" b="0">
                          <a:solidFill>
                            <a:srgbClr val="182F40"/>
                          </a:solidFill>
                        </a:rPr>
                        <a:t>2.31×</a:t>
                      </a:r>
                      <a:endParaRPr sz="1425" b="0">
                        <a:solidFill>
                          <a:srgbClr val="182F40"/>
                        </a:solidFill>
                      </a:endParaRPr>
                    </a:p>
                  </a:txBody>
                  <a:tcPr>
                    <a:lnR w="4763">
                      <a:solidFill>
                        <a:srgbClr val="C9D4D9"/>
                      </a:solidFill>
                      <a:prstDash val="solid"/>
                    </a:lnR>
                    <a:lnB w="4763">
                      <a:solidFill>
                        <a:srgbClr val="C9D4D9"/>
                      </a:solidFill>
                      <a:prstDash val="solid"/>
                    </a:lnB>
                    <a:solidFill>
                      <a:srgbClr val="EEF3F4"/>
                    </a:solidFill>
                  </a:tcPr>
                </a:tc>
              </a:tr>
            </a:tbl>
          </a:graphicData>
        </a:graphic>
      </p:graphicFrame>
      <p:sp>
        <p:nvSpPr>
          <p:cNvPr id="6" name="矩形 5"/>
          <p:cNvSpPr>
            <a:spLocks noGrp="1"/>
          </p:cNvSpPr>
          <p:nvPr/>
        </p:nvSpPr>
        <p:spPr>
          <a:xfrm>
            <a:off x="704850" y="5334000"/>
            <a:ext cx="10572750" cy="647700"/>
          </a:xfrm>
          <a:prstGeom prst="rect">
            <a:avLst/>
          </a:prstGeom>
          <a:noFill/>
          <a:ln w="0">
            <a:noFill/>
            <a:prstDash val="solid"/>
          </a:ln>
        </p:spPr>
        <p:txBody>
          <a:bodyPr anchor="ctr"/>
          <a:lstStyle>
            <a:defPPr>
              <a:defRPr sz="1650" b="1">
                <a:solidFill>
                  <a:srgbClr val="132B40"/>
                </a:solidFill>
              </a:defRPr>
            </a:defPPr>
          </a:lstStyle>
          <a:p>
            <a:pPr>
              <a:defRPr sz="1650" b="1">
                <a:solidFill>
                  <a:srgbClr val="132B40"/>
                </a:solidFill>
              </a:defRPr>
            </a:pPr>
            <a:r>
              <a:rPr sz="1650" b="1">
                <a:solidFill>
                  <a:srgbClr val="132B40"/>
                </a:solidFill>
              </a:rPr>
              <a:t>Example: 53 of 205 comments with “reduce” had a top support score. That is 2.59× the 10.0% baseline; most did not reach that score.</a:t>
            </a:r>
            <a:endParaRPr sz="1650" b="1">
              <a:solidFill>
                <a:srgbClr val="132B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850" b="1">
                <a:solidFill>
                  <a:srgbClr val="132B40"/>
                </a:solidFill>
              </a:defRPr>
            </a:pPr>
            <a:r>
              <a:rPr sz="2775">
                <a:sym typeface="+mn-ea"/>
              </a:rPr>
              <a:t>Original comments changed the interpretation</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05</a:t>
            </a:r>
            <a:endParaRPr sz="975" b="0">
              <a:solidFill>
                <a:srgbClr val="526879"/>
              </a:solidFill>
            </a:endParaRPr>
          </a:p>
        </p:txBody>
      </p:sp>
      <p:sp>
        <p:nvSpPr>
          <p:cNvPr id="4" name="矩形 3"/>
          <p:cNvSpPr>
            <a:spLocks noGrp="1"/>
          </p:cNvSpPr>
          <p:nvPr>
            <p:custDataLst>
              <p:tags r:id="rId1"/>
            </p:custDataLst>
          </p:nvPr>
        </p:nvSpPr>
        <p:spPr>
          <a:xfrm>
            <a:off x="622935" y="2973705"/>
            <a:ext cx="104775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High skepticism score, but the author rejects denial</a:t>
            </a:r>
            <a:endParaRPr sz="1425" b="1">
              <a:solidFill>
                <a:srgbClr val="087F7A"/>
              </a:solidFill>
            </a:endParaRPr>
          </a:p>
        </p:txBody>
      </p:sp>
      <p:sp>
        <p:nvSpPr>
          <p:cNvPr id="5" name="矩形 4"/>
          <p:cNvSpPr>
            <a:spLocks noGrp="1"/>
          </p:cNvSpPr>
          <p:nvPr>
            <p:custDataLst>
              <p:tags r:id="rId2"/>
            </p:custDataLst>
          </p:nvPr>
        </p:nvSpPr>
        <p:spPr>
          <a:xfrm>
            <a:off x="622935" y="3140710"/>
            <a:ext cx="10477500" cy="1028700"/>
          </a:xfrm>
          <a:prstGeom prst="rect">
            <a:avLst/>
          </a:prstGeom>
          <a:noFill/>
          <a:ln w="0">
            <a:noFill/>
            <a:prstDash val="solid"/>
          </a:ln>
        </p:spPr>
        <p:txBody>
          <a:bodyPr anchor="ctr"/>
          <a:lstStyle>
            <a:defPPr>
              <a:defRPr sz="1950" b="0">
                <a:solidFill>
                  <a:srgbClr val="182F40"/>
                </a:solidFill>
              </a:defRPr>
            </a:defPPr>
          </a:lstStyle>
          <a:p>
            <a:pPr>
              <a:defRPr sz="1950" b="0">
                <a:solidFill>
                  <a:srgbClr val="182F40"/>
                </a:solidFill>
              </a:defRPr>
            </a:pPr>
            <a:r>
              <a:rPr sz="1950" b="0">
                <a:solidFill>
                  <a:srgbClr val="182F40"/>
                </a:solidFill>
              </a:rPr>
              <a:t>“I don’t understand global warming deniers.”</a:t>
            </a:r>
            <a:endParaRPr sz="1950" b="0">
              <a:solidFill>
                <a:srgbClr val="182F40"/>
              </a:solidFill>
            </a:endParaRPr>
          </a:p>
          <a:p>
            <a:pPr>
              <a:defRPr sz="1950" b="0">
                <a:solidFill>
                  <a:srgbClr val="182F40"/>
                </a:solidFill>
              </a:defRPr>
            </a:pPr>
            <a:r>
              <a:rPr sz="1950" b="0">
                <a:solidFill>
                  <a:srgbClr val="182F40"/>
                </a:solidFill>
              </a:rPr>
              <a:t>The comment challenges deniers, yet p_skeptic = 0.968.</a:t>
            </a:r>
            <a:endParaRPr sz="1950" b="0">
              <a:solidFill>
                <a:srgbClr val="182F40"/>
              </a:solidFill>
            </a:endParaRPr>
          </a:p>
        </p:txBody>
      </p:sp>
      <p:sp>
        <p:nvSpPr>
          <p:cNvPr id="6" name="矩形 5"/>
          <p:cNvSpPr>
            <a:spLocks noGrp="1"/>
          </p:cNvSpPr>
          <p:nvPr>
            <p:custDataLst>
              <p:tags r:id="rId3"/>
            </p:custDataLst>
          </p:nvPr>
        </p:nvSpPr>
        <p:spPr>
          <a:xfrm>
            <a:off x="622935" y="4149090"/>
            <a:ext cx="104775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Low support score, but the author defends action</a:t>
            </a:r>
            <a:endParaRPr sz="1425" b="1">
              <a:solidFill>
                <a:srgbClr val="087F7A"/>
              </a:solidFill>
            </a:endParaRPr>
          </a:p>
        </p:txBody>
      </p:sp>
      <p:sp>
        <p:nvSpPr>
          <p:cNvPr id="7" name="矩形 6"/>
          <p:cNvSpPr>
            <a:spLocks noGrp="1"/>
          </p:cNvSpPr>
          <p:nvPr>
            <p:custDataLst>
              <p:tags r:id="rId4"/>
            </p:custDataLst>
          </p:nvPr>
        </p:nvSpPr>
        <p:spPr>
          <a:xfrm>
            <a:off x="622935" y="4364990"/>
            <a:ext cx="10477500" cy="1028700"/>
          </a:xfrm>
          <a:prstGeom prst="rect">
            <a:avLst/>
          </a:prstGeom>
          <a:noFill/>
          <a:ln w="0">
            <a:noFill/>
            <a:prstDash val="solid"/>
          </a:ln>
        </p:spPr>
        <p:txBody>
          <a:bodyPr anchor="ctr"/>
          <a:lstStyle>
            <a:defPPr>
              <a:defRPr sz="1950" b="0">
                <a:solidFill>
                  <a:srgbClr val="182F40"/>
                </a:solidFill>
              </a:defRPr>
            </a:defPPr>
          </a:lstStyle>
          <a:p>
            <a:pPr>
              <a:defRPr sz="1950" b="0">
                <a:solidFill>
                  <a:srgbClr val="182F40"/>
                </a:solidFill>
              </a:defRPr>
            </a:pPr>
            <a:r>
              <a:rPr sz="1950" b="0">
                <a:solidFill>
                  <a:srgbClr val="182F40"/>
                </a:solidFill>
              </a:rPr>
              <a:t>“Reduce our need for oil” appears in a defense of public spending,</a:t>
            </a:r>
            <a:endParaRPr sz="1950" b="0">
              <a:solidFill>
                <a:srgbClr val="182F40"/>
              </a:solidFill>
            </a:endParaRPr>
          </a:p>
          <a:p>
            <a:pPr>
              <a:defRPr sz="1950" b="0">
                <a:solidFill>
                  <a:srgbClr val="182F40"/>
                </a:solidFill>
              </a:defRPr>
            </a:pPr>
            <a:r>
              <a:rPr sz="1950" b="0">
                <a:solidFill>
                  <a:srgbClr val="182F40"/>
                </a:solidFill>
              </a:rPr>
              <a:t>yet p_support = 0.022.</a:t>
            </a:r>
            <a:endParaRPr sz="1950" b="0">
              <a:solidFill>
                <a:srgbClr val="182F40"/>
              </a:solidFill>
            </a:endParaRPr>
          </a:p>
        </p:txBody>
      </p:sp>
      <p:sp>
        <p:nvSpPr>
          <p:cNvPr id="8" name="矩形 7"/>
          <p:cNvSpPr>
            <a:spLocks noGrp="1"/>
          </p:cNvSpPr>
          <p:nvPr/>
        </p:nvSpPr>
        <p:spPr>
          <a:xfrm>
            <a:off x="704850" y="5324475"/>
            <a:ext cx="10477500" cy="638175"/>
          </a:xfrm>
          <a:prstGeom prst="rect">
            <a:avLst/>
          </a:prstGeom>
          <a:noFill/>
          <a:ln w="0">
            <a:noFill/>
            <a:prstDash val="solid"/>
          </a:ln>
        </p:spPr>
        <p:txBody>
          <a:bodyPr anchor="ctr"/>
          <a:lstStyle>
            <a:defPPr>
              <a:defRPr sz="1650" b="1">
                <a:solidFill>
                  <a:srgbClr val="CF6536"/>
                </a:solidFill>
              </a:defRPr>
            </a:defPPr>
          </a:lstStyle>
          <a:p>
            <a:pPr>
              <a:defRPr sz="1650" b="1">
                <a:solidFill>
                  <a:srgbClr val="CF6536"/>
                </a:solidFill>
              </a:defRPr>
            </a:pPr>
            <a:r>
              <a:rPr sz="1650" b="1">
                <a:solidFill>
                  <a:srgbClr val="CF6536"/>
                </a:solidFill>
              </a:rPr>
              <a:t>A targeted 40-comment read-back found counterexamples. It cannot estimate overall model accuracy.</a:t>
            </a:r>
            <a:endParaRPr sz="1650" b="1">
              <a:solidFill>
                <a:srgbClr val="CF6536"/>
              </a:solidFill>
            </a:endParaRPr>
          </a:p>
        </p:txBody>
      </p:sp>
      <p:sp>
        <p:nvSpPr>
          <p:cNvPr id="10" name="文本框 9"/>
          <p:cNvSpPr txBox="1"/>
          <p:nvPr/>
        </p:nvSpPr>
        <p:spPr>
          <a:xfrm>
            <a:off x="704850" y="1268730"/>
            <a:ext cx="7139305" cy="645160"/>
          </a:xfrm>
          <a:prstGeom prst="rect">
            <a:avLst/>
          </a:prstGeom>
          <a:noFill/>
        </p:spPr>
        <p:txBody>
          <a:bodyPr wrap="square" rtlCol="0">
            <a:spAutoFit/>
          </a:bodyPr>
          <a:p>
            <a:r>
              <a:rPr b="1">
                <a:solidFill>
                  <a:srgbClr val="132B40"/>
                </a:solidFill>
                <a:sym typeface="+mn-ea"/>
              </a:rPr>
              <a:t>I sampled 40 comments from held-out posts:</a:t>
            </a:r>
            <a:endParaRPr b="1">
              <a:solidFill>
                <a:srgbClr val="132B40"/>
              </a:solidFill>
            </a:endParaRPr>
          </a:p>
          <a:p>
            <a:endParaRPr lang="zh-CN" altLang="en-US"/>
          </a:p>
        </p:txBody>
      </p:sp>
      <p:sp>
        <p:nvSpPr>
          <p:cNvPr id="11" name="文本框 10"/>
          <p:cNvSpPr txBox="1"/>
          <p:nvPr/>
        </p:nvSpPr>
        <p:spPr>
          <a:xfrm>
            <a:off x="704850" y="1973580"/>
            <a:ext cx="9333865" cy="971550"/>
          </a:xfrm>
          <a:prstGeom prst="rect">
            <a:avLst/>
          </a:prstGeom>
          <a:noFill/>
        </p:spPr>
        <p:txBody>
          <a:bodyPr wrap="square" rtlCol="0">
            <a:noAutofit/>
          </a:bodyPr>
          <a:p>
            <a:r>
              <a:rPr>
                <a:solidFill>
                  <a:srgbClr val="182F40"/>
                </a:solidFill>
                <a:sym typeface="+mn-ea"/>
              </a:rPr>
              <a:t>“reduce” for support and “global warming” for skepticism. Each term had 10 model-high and 10 below-threshold comments.</a:t>
            </a:r>
            <a:endParaRPr b="0">
              <a:solidFill>
                <a:srgbClr val="182F40"/>
              </a:solidFill>
            </a:endParaRPr>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High-score shares differ by topic cluster</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06</a:t>
            </a:r>
            <a:endParaRPr sz="975" b="0">
              <a:solidFill>
                <a:srgbClr val="526879"/>
              </a:solidFill>
            </a:endParaRPr>
          </a:p>
        </p:txBody>
      </p:sp>
      <p:sp>
        <p:nvSpPr>
          <p:cNvPr id="4" name="矩形 3"/>
          <p:cNvSpPr>
            <a:spLocks noGrp="1"/>
          </p:cNvSpPr>
          <p:nvPr/>
        </p:nvSpPr>
        <p:spPr>
          <a:xfrm>
            <a:off x="704850" y="1114425"/>
            <a:ext cx="10477500" cy="352425"/>
          </a:xfrm>
          <a:prstGeom prst="rect">
            <a:avLst/>
          </a:prstGeom>
          <a:noFill/>
          <a:ln w="0">
            <a:noFill/>
            <a:prstDash val="solid"/>
          </a:ln>
        </p:spPr>
        <p:txBody>
          <a:bodyPr anchor="ctr"/>
          <a:lstStyle>
            <a:defPPr>
              <a:defRPr sz="1500" b="0">
                <a:solidFill>
                  <a:srgbClr val="526879"/>
                </a:solidFill>
              </a:defRPr>
            </a:defPPr>
          </a:lstStyle>
          <a:p>
            <a:pPr>
              <a:defRPr sz="1500" b="0">
                <a:solidFill>
                  <a:srgbClr val="526879"/>
                </a:solidFill>
              </a:defRPr>
            </a:pPr>
            <a:r>
              <a:rPr sz="1500" b="0">
                <a:solidFill>
                  <a:srgbClr val="526879"/>
                </a:solidFill>
              </a:rPr>
              <a:t>Share of comments in each topic above the training top-10% score cutoff</a:t>
            </a:r>
            <a:endParaRPr sz="1500" b="0">
              <a:solidFill>
                <a:srgbClr val="526879"/>
              </a:solidFill>
            </a:endParaRPr>
          </a:p>
        </p:txBody>
      </p:sp>
      <p:graphicFrame>
        <p:nvGraphicFramePr>
          <p:cNvPr id="5" name="Chart"/>
          <p:cNvGraphicFramePr/>
          <p:nvPr/>
        </p:nvGraphicFramePr>
        <p:xfrm>
          <a:off x="647700" y="1590675"/>
          <a:ext cx="7000875" cy="4324350"/>
        </p:xfrm>
        <a:graphic>
          <a:graphicData uri="http://schemas.openxmlformats.org/drawingml/2006/chart">
            <c:chart xmlns:c="http://schemas.openxmlformats.org/drawingml/2006/chart" xmlns:r="http://schemas.openxmlformats.org/officeDocument/2006/relationships" r:id="rId1"/>
          </a:graphicData>
        </a:graphic>
      </p:graphicFrame>
      <p:sp>
        <p:nvSpPr>
          <p:cNvPr id="6" name="矩形 5"/>
          <p:cNvSpPr>
            <a:spLocks noGrp="1"/>
          </p:cNvSpPr>
          <p:nvPr/>
        </p:nvSpPr>
        <p:spPr>
          <a:xfrm>
            <a:off x="7752715" y="1196975"/>
            <a:ext cx="333375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Largest contrasts</a:t>
            </a:r>
            <a:endParaRPr sz="1425" b="1">
              <a:solidFill>
                <a:srgbClr val="087F7A"/>
              </a:solidFill>
            </a:endParaRPr>
          </a:p>
        </p:txBody>
      </p:sp>
      <p:sp>
        <p:nvSpPr>
          <p:cNvPr id="7" name="矩形 6"/>
          <p:cNvSpPr>
            <a:spLocks noGrp="1"/>
          </p:cNvSpPr>
          <p:nvPr/>
        </p:nvSpPr>
        <p:spPr>
          <a:xfrm>
            <a:off x="7724140" y="1917065"/>
            <a:ext cx="4133215" cy="885825"/>
          </a:xfrm>
          <a:prstGeom prst="rect">
            <a:avLst/>
          </a:prstGeom>
          <a:noFill/>
          <a:ln w="0">
            <a:noFill/>
            <a:prstDash val="solid"/>
          </a:ln>
        </p:spPr>
        <p:txBody>
          <a:bodyPr anchor="ctr"/>
          <a:lstStyle>
            <a:defPPr>
              <a:defRPr sz="1725" b="0">
                <a:solidFill>
                  <a:srgbClr val="182F40"/>
                </a:solidFill>
              </a:defRPr>
            </a:defPPr>
          </a:lstStyle>
          <a:p>
            <a:pPr>
              <a:defRPr sz="1725" b="0">
                <a:solidFill>
                  <a:srgbClr val="182F40"/>
                </a:solidFill>
              </a:defRPr>
            </a:pPr>
            <a:r>
              <a:rPr sz="1725" b="1">
                <a:solidFill>
                  <a:srgbClr val="182F40"/>
                </a:solidFill>
              </a:rPr>
              <a:t>C2 · </a:t>
            </a:r>
            <a:r>
              <a:rPr lang="en-US" altLang="zh-CN" sz="1725" b="1">
                <a:solidFill>
                  <a:srgbClr val="182F40"/>
                </a:solidFill>
              </a:rPr>
              <a:t>Climate belief, denial, and public communication</a:t>
            </a:r>
            <a:endParaRPr lang="en-US" altLang="zh-CN" sz="1725" b="1">
              <a:solidFill>
                <a:srgbClr val="182F40"/>
              </a:solidFill>
            </a:endParaRPr>
          </a:p>
          <a:p>
            <a:pPr>
              <a:defRPr sz="1725" b="0">
                <a:solidFill>
                  <a:srgbClr val="182F40"/>
                </a:solidFill>
              </a:defRPr>
            </a:pPr>
            <a:endParaRPr lang="en-US" altLang="zh-CN" sz="1725" b="0">
              <a:solidFill>
                <a:srgbClr val="182F40"/>
              </a:solidFill>
            </a:endParaRPr>
          </a:p>
          <a:p>
            <a:pPr>
              <a:defRPr sz="1725" b="0">
                <a:solidFill>
                  <a:srgbClr val="182F40"/>
                </a:solidFill>
              </a:defRPr>
            </a:pPr>
            <a:r>
              <a:rPr sz="1725" b="0">
                <a:solidFill>
                  <a:srgbClr val="182F40"/>
                </a:solidFill>
              </a:rPr>
              <a:t>25.9% skeptic high (2.50× overall)</a:t>
            </a:r>
            <a:endParaRPr sz="1725" b="0">
              <a:solidFill>
                <a:srgbClr val="182F40"/>
              </a:solidFill>
            </a:endParaRPr>
          </a:p>
        </p:txBody>
      </p:sp>
      <p:sp>
        <p:nvSpPr>
          <p:cNvPr id="8" name="矩形 7"/>
          <p:cNvSpPr>
            <a:spLocks noGrp="1"/>
          </p:cNvSpPr>
          <p:nvPr/>
        </p:nvSpPr>
        <p:spPr>
          <a:xfrm>
            <a:off x="7742555" y="3242945"/>
            <a:ext cx="4058285" cy="871855"/>
          </a:xfrm>
          <a:prstGeom prst="rect">
            <a:avLst/>
          </a:prstGeom>
          <a:noFill/>
          <a:ln w="0">
            <a:noFill/>
            <a:prstDash val="solid"/>
          </a:ln>
        </p:spPr>
        <p:txBody>
          <a:bodyPr anchor="ctr"/>
          <a:lstStyle>
            <a:defPPr>
              <a:defRPr sz="1725" b="0">
                <a:solidFill>
                  <a:srgbClr val="182F40"/>
                </a:solidFill>
              </a:defRPr>
            </a:defPPr>
          </a:lstStyle>
          <a:p>
            <a:pPr>
              <a:defRPr sz="1725" b="0">
                <a:solidFill>
                  <a:srgbClr val="182F40"/>
                </a:solidFill>
              </a:defRPr>
            </a:pPr>
            <a:r>
              <a:rPr sz="1725" b="1">
                <a:solidFill>
                  <a:srgbClr val="182F40"/>
                </a:solidFill>
              </a:rPr>
              <a:t>C4 · </a:t>
            </a:r>
            <a:r>
              <a:rPr lang="en-US" altLang="zh-CN" sz="1725" b="1">
                <a:solidFill>
                  <a:srgbClr val="182F40"/>
                </a:solidFill>
              </a:rPr>
              <a:t>Climate observations, weather change, and physical impacts</a:t>
            </a:r>
            <a:endParaRPr lang="en-US" altLang="zh-CN" sz="1725" b="1">
              <a:solidFill>
                <a:srgbClr val="182F40"/>
              </a:solidFill>
            </a:endParaRPr>
          </a:p>
          <a:p>
            <a:pPr>
              <a:defRPr sz="1725" b="0">
                <a:solidFill>
                  <a:srgbClr val="182F40"/>
                </a:solidFill>
              </a:defRPr>
            </a:pPr>
            <a:endParaRPr lang="en-US" altLang="zh-CN" sz="1725" b="0">
              <a:solidFill>
                <a:srgbClr val="182F40"/>
              </a:solidFill>
            </a:endParaRPr>
          </a:p>
          <a:p>
            <a:pPr>
              <a:defRPr sz="1725" b="0">
                <a:solidFill>
                  <a:srgbClr val="182F40"/>
                </a:solidFill>
              </a:defRPr>
            </a:pPr>
            <a:r>
              <a:rPr sz="1725" b="0">
                <a:solidFill>
                  <a:srgbClr val="182F40"/>
                </a:solidFill>
              </a:rPr>
              <a:t>15.5% skeptic high (1.50×</a:t>
            </a:r>
            <a:r>
              <a:rPr lang="en-US" sz="1725" b="0">
                <a:solidFill>
                  <a:srgbClr val="182F40"/>
                </a:solidFill>
              </a:rPr>
              <a:t>overall</a:t>
            </a:r>
            <a:r>
              <a:rPr sz="1725" b="0">
                <a:solidFill>
                  <a:srgbClr val="182F40"/>
                </a:solidFill>
              </a:rPr>
              <a:t>)</a:t>
            </a:r>
            <a:endParaRPr sz="1725" b="0">
              <a:solidFill>
                <a:srgbClr val="182F40"/>
              </a:solidFill>
            </a:endParaRPr>
          </a:p>
        </p:txBody>
      </p:sp>
      <p:sp>
        <p:nvSpPr>
          <p:cNvPr id="9" name="矩形 8"/>
          <p:cNvSpPr>
            <a:spLocks noGrp="1"/>
          </p:cNvSpPr>
          <p:nvPr/>
        </p:nvSpPr>
        <p:spPr>
          <a:xfrm>
            <a:off x="7747000" y="4580890"/>
            <a:ext cx="4346575" cy="885825"/>
          </a:xfrm>
          <a:prstGeom prst="rect">
            <a:avLst/>
          </a:prstGeom>
          <a:noFill/>
          <a:ln w="0">
            <a:noFill/>
            <a:prstDash val="solid"/>
          </a:ln>
        </p:spPr>
        <p:txBody>
          <a:bodyPr anchor="ctr"/>
          <a:lstStyle>
            <a:defPPr>
              <a:defRPr sz="1725" b="0">
                <a:solidFill>
                  <a:srgbClr val="182F40"/>
                </a:solidFill>
              </a:defRPr>
            </a:defPPr>
          </a:lstStyle>
          <a:p>
            <a:pPr>
              <a:defRPr sz="1725" b="0">
                <a:solidFill>
                  <a:srgbClr val="182F40"/>
                </a:solidFill>
              </a:defRPr>
            </a:pPr>
            <a:r>
              <a:rPr sz="1725" b="1">
                <a:solidFill>
                  <a:srgbClr val="182F40"/>
                </a:solidFill>
              </a:rPr>
              <a:t>C5 · </a:t>
            </a:r>
            <a:r>
              <a:rPr lang="en-US" altLang="zh-CN" sz="1725" b="1">
                <a:solidFill>
                  <a:srgbClr val="182F40"/>
                </a:solidFill>
              </a:rPr>
              <a:t>Emission responsibility, consumption, and global mitigation</a:t>
            </a:r>
            <a:endParaRPr lang="en-US" altLang="zh-CN" sz="1725" b="1">
              <a:solidFill>
                <a:srgbClr val="182F40"/>
              </a:solidFill>
            </a:endParaRPr>
          </a:p>
          <a:p>
            <a:pPr>
              <a:defRPr sz="1725" b="0">
                <a:solidFill>
                  <a:srgbClr val="182F40"/>
                </a:solidFill>
              </a:defRPr>
            </a:pPr>
            <a:endParaRPr lang="en-US" altLang="zh-CN" sz="1725" b="1">
              <a:solidFill>
                <a:srgbClr val="182F40"/>
              </a:solidFill>
            </a:endParaRPr>
          </a:p>
          <a:p>
            <a:pPr>
              <a:defRPr sz="1725" b="0">
                <a:solidFill>
                  <a:srgbClr val="182F40"/>
                </a:solidFill>
              </a:defRPr>
            </a:pPr>
            <a:r>
              <a:rPr sz="1725" b="0">
                <a:solidFill>
                  <a:srgbClr val="182F40"/>
                </a:solidFill>
              </a:rPr>
              <a:t>18.8% support high (1.88×</a:t>
            </a:r>
            <a:r>
              <a:rPr lang="en-US" sz="1725" b="0">
                <a:solidFill>
                  <a:srgbClr val="182F40"/>
                </a:solidFill>
              </a:rPr>
              <a:t>overall</a:t>
            </a:r>
            <a:r>
              <a:rPr sz="1725" b="0">
                <a:solidFill>
                  <a:srgbClr val="182F40"/>
                </a:solidFill>
              </a:rPr>
              <a:t>)</a:t>
            </a:r>
            <a:endParaRPr sz="1725" b="0">
              <a:solidFill>
                <a:srgbClr val="182F40"/>
              </a:solidFill>
            </a:endParaRPr>
          </a:p>
        </p:txBody>
      </p:sp>
      <p:sp>
        <p:nvSpPr>
          <p:cNvPr id="10" name="矩形 9"/>
          <p:cNvSpPr>
            <a:spLocks noGrp="1"/>
          </p:cNvSpPr>
          <p:nvPr/>
        </p:nvSpPr>
        <p:spPr>
          <a:xfrm>
            <a:off x="704850" y="5915025"/>
            <a:ext cx="10668000" cy="276225"/>
          </a:xfrm>
          <a:prstGeom prst="rect">
            <a:avLst/>
          </a:prstGeom>
          <a:noFill/>
          <a:ln w="0">
            <a:noFill/>
            <a:prstDash val="solid"/>
          </a:ln>
        </p:spPr>
        <p:txBody>
          <a:bodyPr anchor="ctr"/>
          <a:lstStyle>
            <a:defPPr>
              <a:defRPr sz="1275" b="0">
                <a:solidFill>
                  <a:srgbClr val="526879"/>
                </a:solidFill>
              </a:defRPr>
            </a:defPPr>
          </a:lstStyle>
          <a:p>
            <a:pPr>
              <a:defRPr sz="1275" b="0">
                <a:solidFill>
                  <a:srgbClr val="526879"/>
                </a:solidFill>
              </a:defRPr>
            </a:pPr>
            <a:r>
              <a:rPr sz="1275" b="0">
                <a:solidFill>
                  <a:srgbClr val="526879"/>
                </a:solidFill>
              </a:rPr>
              <a:t>Full-sample baselines: support 10.0%; skepticism 10.35%. These are model-score shares.</a:t>
            </a:r>
            <a:endParaRPr sz="1275" b="0">
              <a:solidFill>
                <a:srgbClr val="52687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Original comments explain the three key clusters</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07</a:t>
            </a:r>
            <a:endParaRPr sz="975" b="0">
              <a:solidFill>
                <a:srgbClr val="526879"/>
              </a:solidFill>
            </a:endParaRPr>
          </a:p>
        </p:txBody>
      </p:sp>
      <p:sp>
        <p:nvSpPr>
          <p:cNvPr id="4" name="矩形 3"/>
          <p:cNvSpPr>
            <a:spLocks noGrp="1"/>
          </p:cNvSpPr>
          <p:nvPr/>
        </p:nvSpPr>
        <p:spPr>
          <a:xfrm>
            <a:off x="704850" y="1152525"/>
            <a:ext cx="10572750" cy="419100"/>
          </a:xfrm>
          <a:prstGeom prst="rect">
            <a:avLst/>
          </a:prstGeom>
          <a:noFill/>
          <a:ln w="0">
            <a:noFill/>
            <a:prstDash val="solid"/>
          </a:ln>
        </p:spPr>
        <p:txBody>
          <a:bodyPr anchor="ctr"/>
          <a:lstStyle>
            <a:defPPr>
              <a:defRPr sz="1575" b="0">
                <a:solidFill>
                  <a:srgbClr val="526879"/>
                </a:solidFill>
              </a:defRPr>
            </a:defPPr>
          </a:lstStyle>
          <a:p>
            <a:pPr>
              <a:defRPr sz="1575" b="0">
                <a:solidFill>
                  <a:srgbClr val="526879"/>
                </a:solidFill>
              </a:defRPr>
            </a:pPr>
            <a:r>
              <a:rPr sz="1575" b="0">
                <a:solidFill>
                  <a:srgbClr val="526879"/>
                </a:solidFill>
              </a:rPr>
              <a:t>60 held-out comments: per cluster, 10 target-high and 10 below-threshold.</a:t>
            </a:r>
            <a:endParaRPr sz="1575" b="0">
              <a:solidFill>
                <a:srgbClr val="526879"/>
              </a:solidFill>
            </a:endParaRPr>
          </a:p>
        </p:txBody>
      </p:sp>
      <p:graphicFrame>
        <p:nvGraphicFramePr>
          <p:cNvPr id="5" name="表格 4"/>
          <p:cNvGraphicFramePr/>
          <p:nvPr/>
        </p:nvGraphicFramePr>
        <p:xfrm>
          <a:off x="704850" y="1866900"/>
          <a:ext cx="10956290" cy="3314700"/>
        </p:xfrm>
        <a:graphic>
          <a:graphicData uri="http://schemas.openxmlformats.org/drawingml/2006/table">
            <a:tbl>
              <a:tblPr firstRow="1" bandRow="1"/>
              <a:tblGrid>
                <a:gridCol w="2952750"/>
                <a:gridCol w="3667125"/>
                <a:gridCol w="4336415"/>
              </a:tblGrid>
              <a:tr h="828675">
                <a:tc>
                  <a:txBody>
                    <a:bodyPr/>
                    <a:lstStyle/>
                    <a:p>
                      <a:r>
                        <a:rPr sz="1275" b="1">
                          <a:solidFill>
                            <a:srgbClr val="087F7A"/>
                          </a:solidFill>
                        </a:rPr>
                        <a:t>Cluster and checked score</a:t>
                      </a:r>
                      <a:endParaRPr sz="1275" b="1">
                        <a:solidFill>
                          <a:srgbClr val="087F7A"/>
                        </a:solidFill>
                      </a:endParaRPr>
                    </a:p>
                  </a:txBody>
                  <a:tcPr>
                    <a:lnL w="4763">
                      <a:solidFill>
                        <a:srgbClr val="C9D4D9"/>
                      </a:solidFill>
                      <a:prstDash val="solid"/>
                    </a:lnL>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275" b="1">
                          <a:solidFill>
                            <a:srgbClr val="087F7A"/>
                          </a:solidFill>
                        </a:rPr>
                        <a:t>Among 10 target-high comments</a:t>
                      </a:r>
                      <a:endParaRPr sz="1275"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c>
                  <a:txBody>
                    <a:bodyPr/>
                    <a:lstStyle/>
                    <a:p>
                      <a:r>
                        <a:rPr sz="1275" b="1">
                          <a:solidFill>
                            <a:srgbClr val="087F7A"/>
                          </a:solidFill>
                        </a:rPr>
                        <a:t>Best reading of the topic pattern</a:t>
                      </a:r>
                      <a:endParaRPr sz="1275" b="1">
                        <a:solidFill>
                          <a:srgbClr val="087F7A"/>
                        </a:solidFill>
                      </a:endParaRPr>
                    </a:p>
                  </a:txBody>
                  <a:tcPr>
                    <a:lnR w="4763">
                      <a:solidFill>
                        <a:srgbClr val="C9D4D9"/>
                      </a:solidFill>
                      <a:prstDash val="solid"/>
                    </a:lnR>
                    <a:lnT w="4763">
                      <a:solidFill>
                        <a:srgbClr val="C9D4D9"/>
                      </a:solidFill>
                      <a:prstDash val="solid"/>
                    </a:lnT>
                    <a:lnB w="4763">
                      <a:solidFill>
                        <a:srgbClr val="C9D4D9"/>
                      </a:solidFill>
                      <a:prstDash val="solid"/>
                    </a:lnB>
                    <a:solidFill>
                      <a:srgbClr val="FFFFFF"/>
                    </a:solidFill>
                  </a:tcPr>
                </a:tc>
              </a:tr>
              <a:tr h="828675">
                <a:tc>
                  <a:txBody>
                    <a:bodyPr/>
                    <a:lstStyle/>
                    <a:p>
                      <a:r>
                        <a:rPr sz="1350" b="0">
                          <a:solidFill>
                            <a:srgbClr val="182F40"/>
                          </a:solidFill>
                        </a:rPr>
                        <a:t>C2 </a:t>
                      </a:r>
                      <a:r>
                        <a:rPr lang="en-US" sz="1350" b="0">
                          <a:solidFill>
                            <a:srgbClr val="182F40"/>
                          </a:solidFill>
                        </a:rPr>
                        <a:t>:</a:t>
                      </a:r>
                      <a:r>
                        <a:rPr lang="en-US" altLang="zh-CN" sz="1350" b="0">
                          <a:solidFill>
                            <a:srgbClr val="182F40"/>
                          </a:solidFill>
                          <a:sym typeface="+mn-ea"/>
                        </a:rPr>
                        <a:t>Climate belief, denial, and public communication</a:t>
                      </a:r>
                      <a:endParaRPr lang="en-US" altLang="zh-CN" sz="1350" b="0">
                        <a:solidFill>
                          <a:srgbClr val="182F40"/>
                        </a:solidFill>
                      </a:endParaRPr>
                    </a:p>
                    <a:p>
                      <a:r>
                        <a:rPr lang="en-US" sz="1350" b="1">
                          <a:solidFill>
                            <a:srgbClr val="182F40"/>
                          </a:solidFill>
                        </a:rPr>
                        <a:t>                  </a:t>
                      </a:r>
                      <a:r>
                        <a:rPr sz="1350" b="1">
                          <a:solidFill>
                            <a:srgbClr val="182F40"/>
                          </a:solidFill>
                        </a:rPr>
                        <a:t>skepticism</a:t>
                      </a:r>
                      <a:endParaRPr sz="1350"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FFFFFF"/>
                    </a:solidFill>
                  </a:tcPr>
                </a:tc>
                <a:tc>
                  <a:txBody>
                    <a:bodyPr/>
                    <a:lstStyle/>
                    <a:p>
                      <a:r>
                        <a:rPr sz="1350" b="0">
                          <a:solidFill>
                            <a:srgbClr val="182F40"/>
                          </a:solidFill>
                        </a:rPr>
                        <a:t>4 skeptical; 3 accepting; 3 unclear</a:t>
                      </a:r>
                      <a:endParaRPr sz="1350"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350" b="0">
                          <a:solidFill>
                            <a:srgbClr val="182F40"/>
                          </a:solidFill>
                        </a:rPr>
                        <a:t>Debate includes skeptics and people rebutting them.</a:t>
                      </a:r>
                      <a:endParaRPr sz="1350" b="0">
                        <a:solidFill>
                          <a:srgbClr val="182F40"/>
                        </a:solidFill>
                      </a:endParaRPr>
                    </a:p>
                  </a:txBody>
                  <a:tcPr>
                    <a:lnR w="4763">
                      <a:solidFill>
                        <a:srgbClr val="C9D4D9"/>
                      </a:solidFill>
                      <a:prstDash val="solid"/>
                    </a:lnR>
                    <a:lnB w="4763">
                      <a:solidFill>
                        <a:srgbClr val="C9D4D9"/>
                      </a:solidFill>
                      <a:prstDash val="solid"/>
                    </a:lnB>
                    <a:solidFill>
                      <a:srgbClr val="FFFFFF"/>
                    </a:solidFill>
                  </a:tcPr>
                </a:tc>
              </a:tr>
              <a:tr h="828675">
                <a:tc>
                  <a:txBody>
                    <a:bodyPr/>
                    <a:lstStyle/>
                    <a:p>
                      <a:r>
                        <a:rPr sz="1350" b="0">
                          <a:solidFill>
                            <a:srgbClr val="182F40"/>
                          </a:solidFill>
                        </a:rPr>
                        <a:t>C4 </a:t>
                      </a:r>
                      <a:r>
                        <a:rPr lang="en-US" sz="1350" b="0">
                          <a:solidFill>
                            <a:srgbClr val="182F40"/>
                          </a:solidFill>
                        </a:rPr>
                        <a:t>:</a:t>
                      </a:r>
                      <a:r>
                        <a:rPr lang="en-US" altLang="zh-CN" sz="1350" b="0">
                          <a:solidFill>
                            <a:srgbClr val="182F40"/>
                          </a:solidFill>
                          <a:sym typeface="+mn-ea"/>
                        </a:rPr>
                        <a:t>Climate observations, weather change, and physical impacts</a:t>
                      </a:r>
                      <a:endParaRPr lang="en-US" altLang="zh-CN" sz="1350" b="0">
                        <a:solidFill>
                          <a:srgbClr val="182F40"/>
                        </a:solidFill>
                      </a:endParaRPr>
                    </a:p>
                    <a:p>
                      <a:r>
                        <a:rPr lang="en-US" sz="1350" b="1">
                          <a:solidFill>
                            <a:srgbClr val="182F40"/>
                          </a:solidFill>
                        </a:rPr>
                        <a:t>                  </a:t>
                      </a:r>
                      <a:r>
                        <a:rPr sz="1350" b="1">
                          <a:solidFill>
                            <a:srgbClr val="182F40"/>
                          </a:solidFill>
                        </a:rPr>
                        <a:t>skepticism</a:t>
                      </a:r>
                      <a:endParaRPr sz="1350"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EEF3F4"/>
                    </a:solidFill>
                  </a:tcPr>
                </a:tc>
                <a:tc>
                  <a:txBody>
                    <a:bodyPr/>
                    <a:lstStyle/>
                    <a:p>
                      <a:r>
                        <a:rPr sz="1350" b="0">
                          <a:solidFill>
                            <a:srgbClr val="182F40"/>
                          </a:solidFill>
                        </a:rPr>
                        <a:t>4 skeptical; 4 accept but question a specific </a:t>
                      </a:r>
                      <a:r>
                        <a:rPr lang="en-US" altLang="zh-CN" sz="1350" b="0">
                          <a:solidFill>
                            <a:srgbClr val="182F40"/>
                          </a:solidFill>
                        </a:rPr>
                        <a:t> piece of data or a forecast</a:t>
                      </a:r>
                      <a:r>
                        <a:rPr sz="1350" b="0">
                          <a:solidFill>
                            <a:srgbClr val="182F40"/>
                          </a:solidFill>
                        </a:rPr>
                        <a:t>; 1 accepting; 1 unclear</a:t>
                      </a:r>
                      <a:endParaRPr sz="1350" b="0">
                        <a:solidFill>
                          <a:srgbClr val="182F40"/>
                        </a:solidFill>
                      </a:endParaRPr>
                    </a:p>
                  </a:txBody>
                  <a:tcPr>
                    <a:lnR w="4763">
                      <a:solidFill>
                        <a:srgbClr val="C9D4D9"/>
                      </a:solidFill>
                      <a:prstDash val="solid"/>
                    </a:lnR>
                    <a:lnB w="4763">
                      <a:solidFill>
                        <a:srgbClr val="C9D4D9"/>
                      </a:solidFill>
                      <a:prstDash val="solid"/>
                    </a:lnB>
                    <a:solidFill>
                      <a:srgbClr val="EEF3F4"/>
                    </a:solidFill>
                  </a:tcPr>
                </a:tc>
                <a:tc>
                  <a:txBody>
                    <a:bodyPr/>
                    <a:lstStyle/>
                    <a:p>
                      <a:r>
                        <a:rPr sz="1350" b="0">
                          <a:solidFill>
                            <a:srgbClr val="182F40"/>
                          </a:solidFill>
                        </a:rPr>
                        <a:t>Questions about measurements and forecasts are not all climate denial.</a:t>
                      </a:r>
                      <a:endParaRPr sz="1350" b="0">
                        <a:solidFill>
                          <a:srgbClr val="182F40"/>
                        </a:solidFill>
                      </a:endParaRPr>
                    </a:p>
                  </a:txBody>
                  <a:tcPr>
                    <a:lnR w="4763">
                      <a:solidFill>
                        <a:srgbClr val="C9D4D9"/>
                      </a:solidFill>
                      <a:prstDash val="solid"/>
                    </a:lnR>
                    <a:lnB w="4763">
                      <a:solidFill>
                        <a:srgbClr val="C9D4D9"/>
                      </a:solidFill>
                      <a:prstDash val="solid"/>
                    </a:lnB>
                    <a:solidFill>
                      <a:srgbClr val="EEF3F4"/>
                    </a:solidFill>
                  </a:tcPr>
                </a:tc>
              </a:tr>
              <a:tr h="828675">
                <a:tc>
                  <a:txBody>
                    <a:bodyPr/>
                    <a:lstStyle/>
                    <a:p>
                      <a:r>
                        <a:rPr sz="1350" b="0">
                          <a:solidFill>
                            <a:srgbClr val="182F40"/>
                          </a:solidFill>
                        </a:rPr>
                        <a:t>C5 </a:t>
                      </a:r>
                      <a:r>
                        <a:rPr lang="zh-CN" sz="1350" b="0">
                          <a:solidFill>
                            <a:srgbClr val="182F40"/>
                          </a:solidFill>
                          <a:ea typeface="宋体" panose="02010600030101010101" pitchFamily="2" charset="-122"/>
                        </a:rPr>
                        <a:t>：</a:t>
                      </a:r>
                      <a:r>
                        <a:rPr lang="en-US" altLang="zh-CN" sz="1350" b="0">
                          <a:solidFill>
                            <a:srgbClr val="182F40"/>
                          </a:solidFill>
                          <a:sym typeface="+mn-ea"/>
                        </a:rPr>
                        <a:t>Emission responsibility, consumption, and global mitigation</a:t>
                      </a:r>
                      <a:endParaRPr lang="en-US" altLang="zh-CN" sz="1350" b="0">
                        <a:solidFill>
                          <a:srgbClr val="182F40"/>
                        </a:solidFill>
                      </a:endParaRPr>
                    </a:p>
                    <a:p>
                      <a:r>
                        <a:rPr lang="en-US" sz="1350" b="1">
                          <a:solidFill>
                            <a:srgbClr val="182F40"/>
                          </a:solidFill>
                        </a:rPr>
                        <a:t>                    </a:t>
                      </a:r>
                      <a:r>
                        <a:rPr sz="1350" b="1">
                          <a:solidFill>
                            <a:srgbClr val="182F40"/>
                          </a:solidFill>
                        </a:rPr>
                        <a:t>support</a:t>
                      </a:r>
                      <a:endParaRPr sz="1350" b="1">
                        <a:solidFill>
                          <a:srgbClr val="182F40"/>
                        </a:solidFill>
                      </a:endParaRPr>
                    </a:p>
                  </a:txBody>
                  <a:tcPr>
                    <a:lnL w="4763">
                      <a:solidFill>
                        <a:srgbClr val="C9D4D9"/>
                      </a:solidFill>
                      <a:prstDash val="solid"/>
                    </a:lnL>
                    <a:lnR w="4763">
                      <a:solidFill>
                        <a:srgbClr val="C9D4D9"/>
                      </a:solidFill>
                      <a:prstDash val="solid"/>
                    </a:lnR>
                    <a:lnB w="4763">
                      <a:solidFill>
                        <a:srgbClr val="C9D4D9"/>
                      </a:solidFill>
                      <a:prstDash val="solid"/>
                    </a:lnB>
                    <a:solidFill>
                      <a:srgbClr val="FFFFFF"/>
                    </a:solidFill>
                  </a:tcPr>
                </a:tc>
                <a:tc>
                  <a:txBody>
                    <a:bodyPr/>
                    <a:lstStyle/>
                    <a:p>
                      <a:r>
                        <a:rPr sz="1350" b="0">
                          <a:solidFill>
                            <a:srgbClr val="182F40"/>
                          </a:solidFill>
                        </a:rPr>
                        <a:t>7 support action; 3 unclear</a:t>
                      </a:r>
                      <a:endParaRPr sz="1350" b="0">
                        <a:solidFill>
                          <a:srgbClr val="182F40"/>
                        </a:solidFill>
                      </a:endParaRPr>
                    </a:p>
                  </a:txBody>
                  <a:tcPr>
                    <a:lnR w="4763">
                      <a:solidFill>
                        <a:srgbClr val="C9D4D9"/>
                      </a:solidFill>
                      <a:prstDash val="solid"/>
                    </a:lnR>
                    <a:lnB w="4763">
                      <a:solidFill>
                        <a:srgbClr val="C9D4D9"/>
                      </a:solidFill>
                      <a:prstDash val="solid"/>
                    </a:lnB>
                    <a:solidFill>
                      <a:srgbClr val="FFFFFF"/>
                    </a:solidFill>
                  </a:tcPr>
                </a:tc>
                <a:tc>
                  <a:txBody>
                    <a:bodyPr/>
                    <a:lstStyle/>
                    <a:p>
                      <a:r>
                        <a:rPr sz="1350" b="0">
                          <a:solidFill>
                            <a:srgbClr val="182F40"/>
                          </a:solidFill>
                        </a:rPr>
                        <a:t>Mitigation and responsibility language often signals action, but not always.</a:t>
                      </a:r>
                      <a:endParaRPr sz="1350" b="0">
                        <a:solidFill>
                          <a:srgbClr val="182F40"/>
                        </a:solidFill>
                      </a:endParaRPr>
                    </a:p>
                  </a:txBody>
                  <a:tcPr>
                    <a:lnR w="4763">
                      <a:solidFill>
                        <a:srgbClr val="C9D4D9"/>
                      </a:solidFill>
                      <a:prstDash val="solid"/>
                    </a:lnR>
                    <a:lnB w="4763">
                      <a:solidFill>
                        <a:srgbClr val="C9D4D9"/>
                      </a:solidFill>
                      <a:prstDash val="soli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685800" y="314325"/>
            <a:ext cx="10810875" cy="695325"/>
          </a:xfrm>
          <a:prstGeom prst="rect">
            <a:avLst/>
          </a:prstGeom>
          <a:noFill/>
          <a:ln w="0">
            <a:noFill/>
            <a:prstDash val="solid"/>
          </a:ln>
        </p:spPr>
        <p:txBody>
          <a:bodyPr anchor="ctr"/>
          <a:lstStyle>
            <a:defPPr>
              <a:defRPr sz="2775" b="1">
                <a:solidFill>
                  <a:srgbClr val="132B40"/>
                </a:solidFill>
              </a:defRPr>
            </a:defPPr>
          </a:lstStyle>
          <a:p>
            <a:pPr>
              <a:defRPr sz="2775" b="1">
                <a:solidFill>
                  <a:srgbClr val="132B40"/>
                </a:solidFill>
              </a:defRPr>
            </a:pPr>
            <a:r>
              <a:rPr sz="2775" b="1">
                <a:solidFill>
                  <a:srgbClr val="132B40"/>
                </a:solidFill>
              </a:rPr>
              <a:t>What this analysis supports</a:t>
            </a:r>
            <a:endParaRPr sz="2775" b="1">
              <a:solidFill>
                <a:srgbClr val="132B40"/>
              </a:solidFill>
            </a:endParaRPr>
          </a:p>
        </p:txBody>
      </p:sp>
      <p:sp>
        <p:nvSpPr>
          <p:cNvPr id="3" name="矩形 2"/>
          <p:cNvSpPr>
            <a:spLocks noGrp="1"/>
          </p:cNvSpPr>
          <p:nvPr/>
        </p:nvSpPr>
        <p:spPr>
          <a:xfrm>
            <a:off x="11058525" y="6248400"/>
            <a:ext cx="476250" cy="228600"/>
          </a:xfrm>
          <a:prstGeom prst="rect">
            <a:avLst/>
          </a:prstGeom>
          <a:noFill/>
          <a:ln w="0">
            <a:noFill/>
            <a:prstDash val="solid"/>
          </a:ln>
        </p:spPr>
        <p:txBody>
          <a:bodyPr anchor="ctr"/>
          <a:lstStyle>
            <a:defPPr>
              <a:defRPr sz="975" b="0">
                <a:solidFill>
                  <a:srgbClr val="526879"/>
                </a:solidFill>
              </a:defRPr>
            </a:defPPr>
          </a:lstStyle>
          <a:p>
            <a:pPr>
              <a:defRPr sz="975" b="0">
                <a:solidFill>
                  <a:srgbClr val="526879"/>
                </a:solidFill>
              </a:defRPr>
            </a:pPr>
            <a:r>
              <a:rPr sz="975" b="0">
                <a:solidFill>
                  <a:srgbClr val="526879"/>
                </a:solidFill>
              </a:rPr>
              <a:t>08</a:t>
            </a:r>
            <a:endParaRPr sz="975" b="0">
              <a:solidFill>
                <a:srgbClr val="526879"/>
              </a:solidFill>
            </a:endParaRPr>
          </a:p>
        </p:txBody>
      </p:sp>
      <p:sp>
        <p:nvSpPr>
          <p:cNvPr id="4" name="矩形 3"/>
          <p:cNvSpPr>
            <a:spLocks noGrp="1"/>
          </p:cNvSpPr>
          <p:nvPr/>
        </p:nvSpPr>
        <p:spPr>
          <a:xfrm>
            <a:off x="704850" y="1118870"/>
            <a:ext cx="104775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Finding</a:t>
            </a:r>
            <a:endParaRPr sz="1425" b="1">
              <a:solidFill>
                <a:srgbClr val="087F7A"/>
              </a:solidFill>
            </a:endParaRPr>
          </a:p>
        </p:txBody>
      </p:sp>
      <p:sp>
        <p:nvSpPr>
          <p:cNvPr id="5" name="矩形 4"/>
          <p:cNvSpPr>
            <a:spLocks noGrp="1"/>
          </p:cNvSpPr>
          <p:nvPr/>
        </p:nvSpPr>
        <p:spPr>
          <a:xfrm>
            <a:off x="704850" y="1616710"/>
            <a:ext cx="10382250" cy="1744980"/>
          </a:xfrm>
          <a:prstGeom prst="rect">
            <a:avLst/>
          </a:prstGeom>
          <a:noFill/>
          <a:ln w="0">
            <a:noFill/>
            <a:prstDash val="solid"/>
          </a:ln>
        </p:spPr>
        <p:txBody>
          <a:bodyPr anchor="ctr"/>
          <a:lstStyle>
            <a:defPPr>
              <a:defRPr sz="2250" b="1">
                <a:solidFill>
                  <a:srgbClr val="132B40"/>
                </a:solidFill>
              </a:defRPr>
            </a:defPPr>
          </a:lstStyle>
          <a:p>
            <a:pPr>
              <a:buNone/>
              <a:defRPr sz="2250" b="1">
                <a:solidFill>
                  <a:srgbClr val="132B40"/>
                </a:solidFill>
              </a:defRPr>
            </a:pPr>
            <a:r>
              <a:rPr sz="2100" b="0">
                <a:solidFill>
                  <a:srgbClr val="132B40"/>
                </a:solidFill>
              </a:rPr>
              <a:t>Word–score rules were found in training comments and tested on held-out posts. The link between “reduce” and high support scores persisted.</a:t>
            </a:r>
            <a:endParaRPr sz="2100" b="0">
              <a:solidFill>
                <a:srgbClr val="132B40"/>
              </a:solidFill>
            </a:endParaRPr>
          </a:p>
          <a:p>
            <a:pPr>
              <a:buNone/>
              <a:defRPr sz="2250" b="1">
                <a:solidFill>
                  <a:srgbClr val="132B40"/>
                </a:solidFill>
              </a:defRPr>
            </a:pPr>
            <a:r>
              <a:rPr sz="2100" b="0">
                <a:solidFill>
                  <a:srgbClr val="132B40"/>
                </a:solidFill>
              </a:rPr>
              <a:t>Cluster–score shares use all 28,230 comments. The 60 held-out excerpts help interpret selected clusters; they do not independently validate every cluster share.</a:t>
            </a:r>
            <a:endParaRPr sz="2100" b="0">
              <a:solidFill>
                <a:srgbClr val="132B40"/>
              </a:solidFill>
            </a:endParaRPr>
          </a:p>
          <a:p>
            <a:pPr>
              <a:buNone/>
              <a:defRPr sz="2250" b="1">
                <a:solidFill>
                  <a:srgbClr val="132B40"/>
                </a:solidFill>
              </a:defRPr>
            </a:pPr>
            <a:endParaRPr sz="2100" b="0">
              <a:solidFill>
                <a:srgbClr val="132B40"/>
              </a:solidFill>
            </a:endParaRPr>
          </a:p>
        </p:txBody>
      </p:sp>
      <p:sp>
        <p:nvSpPr>
          <p:cNvPr id="6" name="矩形 5"/>
          <p:cNvSpPr>
            <a:spLocks noGrp="1"/>
          </p:cNvSpPr>
          <p:nvPr/>
        </p:nvSpPr>
        <p:spPr>
          <a:xfrm>
            <a:off x="704850" y="3352800"/>
            <a:ext cx="10477500" cy="304800"/>
          </a:xfrm>
          <a:prstGeom prst="rect">
            <a:avLst/>
          </a:prstGeom>
          <a:noFill/>
          <a:ln w="0">
            <a:noFill/>
            <a:prstDash val="solid"/>
          </a:ln>
        </p:spPr>
        <p:txBody>
          <a:bodyPr anchor="ctr"/>
          <a:lstStyle>
            <a:defPPr>
              <a:defRPr sz="1425" b="1">
                <a:solidFill>
                  <a:srgbClr val="087F7A"/>
                </a:solidFill>
              </a:defRPr>
            </a:defPPr>
          </a:lstStyle>
          <a:p>
            <a:pPr>
              <a:defRPr sz="1425" b="1">
                <a:solidFill>
                  <a:srgbClr val="087F7A"/>
                </a:solidFill>
              </a:defRPr>
            </a:pPr>
            <a:r>
              <a:rPr sz="1425" b="1">
                <a:solidFill>
                  <a:srgbClr val="087F7A"/>
                </a:solidFill>
              </a:rPr>
              <a:t>Limit</a:t>
            </a:r>
            <a:endParaRPr sz="1425" b="1">
              <a:solidFill>
                <a:srgbClr val="087F7A"/>
              </a:solidFill>
            </a:endParaRPr>
          </a:p>
        </p:txBody>
      </p:sp>
      <p:sp>
        <p:nvSpPr>
          <p:cNvPr id="7" name="矩形 6"/>
          <p:cNvSpPr>
            <a:spLocks noGrp="1"/>
          </p:cNvSpPr>
          <p:nvPr/>
        </p:nvSpPr>
        <p:spPr>
          <a:xfrm>
            <a:off x="767080" y="3882390"/>
            <a:ext cx="10382250" cy="1338580"/>
          </a:xfrm>
          <a:prstGeom prst="rect">
            <a:avLst/>
          </a:prstGeom>
          <a:noFill/>
          <a:ln w="0">
            <a:noFill/>
            <a:prstDash val="solid"/>
          </a:ln>
        </p:spPr>
        <p:txBody>
          <a:bodyPr anchor="ctr"/>
          <a:lstStyle>
            <a:defPPr>
              <a:defRPr sz="2100" b="0">
                <a:solidFill>
                  <a:srgbClr val="182F40"/>
                </a:solidFill>
              </a:defRPr>
            </a:defPPr>
          </a:lstStyle>
          <a:p>
            <a:pPr>
              <a:defRPr sz="2100" b="0">
                <a:solidFill>
                  <a:srgbClr val="182F40"/>
                </a:solidFill>
              </a:defRPr>
            </a:pPr>
            <a:r>
              <a:rPr sz="2100" b="0">
                <a:solidFill>
                  <a:srgbClr val="182F40"/>
                </a:solidFill>
              </a:rPr>
              <a:t>Because scores come from the same text, these patterns describe model behavior—not verified community perspectives.</a:t>
            </a:r>
            <a:r>
              <a:rPr>
                <a:sym typeface="+mn-ea"/>
              </a:rPr>
              <a:t>Quotation, criticism, and context can reverse the apparent meaning of a term. Claims about actual perspectives need a separate, completed human review.</a:t>
            </a:r>
            <a:endParaRPr b="0">
              <a:solidFill>
                <a:srgbClr val="182F40"/>
              </a:solidFill>
            </a:endParaRPr>
          </a:p>
          <a:p>
            <a:pPr>
              <a:defRPr sz="2100" b="0">
                <a:solidFill>
                  <a:srgbClr val="182F40"/>
                </a:solidFill>
              </a:defRPr>
            </a:pPr>
            <a:endParaRPr sz="2100" b="0">
              <a:solidFill>
                <a:srgbClr val="182F40"/>
              </a:solidFill>
            </a:endParaRPr>
          </a:p>
        </p:txBody>
      </p:sp>
      <p:sp>
        <p:nvSpPr>
          <p:cNvPr id="8" name="矩形 7"/>
          <p:cNvSpPr>
            <a:spLocks noGrp="1"/>
          </p:cNvSpPr>
          <p:nvPr/>
        </p:nvSpPr>
        <p:spPr>
          <a:xfrm>
            <a:off x="704850" y="5334000"/>
            <a:ext cx="10287000" cy="704850"/>
          </a:xfrm>
          <a:prstGeom prst="rect">
            <a:avLst/>
          </a:prstGeom>
          <a:noFill/>
          <a:ln w="0">
            <a:noFill/>
            <a:prstDash val="solid"/>
          </a:ln>
        </p:spPr>
        <p:txBody>
          <a:bodyPr anchor="ctr"/>
          <a:lstStyle>
            <a:defPPr>
              <a:defRPr sz="1725" b="1">
                <a:solidFill>
                  <a:srgbClr val="CF6536"/>
                </a:solidFill>
              </a:defRPr>
            </a:defPPr>
          </a:lstStyle>
          <a:p>
            <a:pPr>
              <a:defRPr sz="1725" b="1">
                <a:solidFill>
                  <a:srgbClr val="CF6536"/>
                </a:solidFill>
              </a:defRPr>
            </a:pPr>
            <a:r>
              <a:rPr sz="1725" b="1">
                <a:solidFill>
                  <a:srgbClr val="CF6536"/>
                </a:solidFill>
              </a:rPr>
              <a:t>Next: blind human review across topics and subreddits before estimating actual stances.</a:t>
            </a:r>
            <a:endParaRPr sz="1725" b="1">
              <a:solidFill>
                <a:srgbClr val="CF6536"/>
              </a:solidFill>
            </a:endParaRPr>
          </a:p>
        </p:txBody>
      </p:sp>
    </p:spTree>
  </p:cSld>
  <p:clrMapOvr>
    <a:masterClrMapping/>
  </p:clrMapOvr>
</p:sld>
</file>

<file path=ppt/tags/tag1.xml><?xml version="1.0" encoding="utf-8"?>
<p:tagLst xmlns:p="http://schemas.openxmlformats.org/presentationml/2006/main">
  <p:tag name="KSO_WM_DIAGRAM_VIRTUALLY_FRAME" val="{&quot;height&quot;:246,&quot;left&quot;:55.5,&quot;top&quot;:219,&quot;width&quot;:840}"/>
</p:tagLst>
</file>

<file path=ppt/tags/tag2.xml><?xml version="1.0" encoding="utf-8"?>
<p:tagLst xmlns:p="http://schemas.openxmlformats.org/presentationml/2006/main">
  <p:tag name="KSO_WM_DIAGRAM_VIRTUALLY_FRAME" val="{&quot;height&quot;:246,&quot;left&quot;:55.5,&quot;top&quot;:219,&quot;width&quot;:840}"/>
</p:tagLst>
</file>

<file path=ppt/tags/tag3.xml><?xml version="1.0" encoding="utf-8"?>
<p:tagLst xmlns:p="http://schemas.openxmlformats.org/presentationml/2006/main">
  <p:tag name="KSO_WM_DIAGRAM_VIRTUALLY_FRAME" val="{&quot;height&quot;:246,&quot;left&quot;:55.5,&quot;top&quot;:219,&quot;width&quot;:840}"/>
</p:tagLst>
</file>

<file path=ppt/tags/tag4.xml><?xml version="1.0" encoding="utf-8"?>
<p:tagLst xmlns:p="http://schemas.openxmlformats.org/presentationml/2006/main">
  <p:tag name="KSO_WM_DIAGRAM_VIRTUALLY_FRAME" val="{&quot;height&quot;:246,&quot;left&quot;:55.5,&quot;top&quot;:219,&quot;width&quot;:840}"/>
</p:tagLst>
</file>

<file path=ppt/tags/tag5.xml><?xml version="1.0" encoding="utf-8"?>
<p:tagLst xmlns:p="http://schemas.openxmlformats.org/presentationml/2006/main">
  <p:tag name="KSO_WM_DIAGRAM_VIRTUALLY_FRAME" val="{&quot;height&quot;:318.2,&quot;left&quot;:49.05,&quot;top&quot;:106.5,&quot;width&quot;:831.45}"/>
</p:tagLst>
</file>

<file path=ppt/tags/tag6.xml><?xml version="1.0" encoding="utf-8"?>
<p:tagLst xmlns:p="http://schemas.openxmlformats.org/presentationml/2006/main">
  <p:tag name="KSO_WM_DIAGRAM_VIRTUALLY_FRAME" val="{&quot;height&quot;:318.2,&quot;left&quot;:49.05,&quot;top&quot;:106.5,&quot;width&quot;:831.45}"/>
</p:tagLst>
</file>

<file path=ppt/tags/tag7.xml><?xml version="1.0" encoding="utf-8"?>
<p:tagLst xmlns:p="http://schemas.openxmlformats.org/presentationml/2006/main">
  <p:tag name="KSO_WM_DIAGRAM_VIRTUALLY_FRAME" val="{&quot;height&quot;:318.2,&quot;left&quot;:49.05,&quot;top&quot;:106.5,&quot;width&quot;:831.45}"/>
</p:tagLst>
</file>

<file path=ppt/tags/tag8.xml><?xml version="1.0" encoding="utf-8"?>
<p:tagLst xmlns:p="http://schemas.openxmlformats.org/presentationml/2006/main">
  <p:tag name="KSO_WM_DIAGRAM_VIRTUALLY_FRAME" val="{&quot;height&quot;:318.2,&quot;left&quot;:49.05,&quot;top&quot;:106.5,&quot;width&quot;:831.4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3860</Words>
  <Application>WPS 演示</Application>
  <PresentationFormat>Converted Presentation</PresentationFormat>
  <Paragraphs>187</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Aptos</vt:lpstr>
      <vt:lpstr>Segoe UI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CC</cp:lastModifiedBy>
  <cp:revision>2</cp:revision>
  <dcterms:created xsi:type="dcterms:W3CDTF">2026-10-14T18:09:00Z</dcterms:created>
  <dcterms:modified xsi:type="dcterms:W3CDTF">2026-10-14T19:01:04Z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3F314D2CD5544C40BCAF61BA478F9E50_12</vt:lpwstr>
  </property>
</Properties>
</file>